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545" autoAdjust="0"/>
  </p:normalViewPr>
  <p:slideViewPr>
    <p:cSldViewPr snapToGrid="0">
      <p:cViewPr>
        <p:scale>
          <a:sx n="69" d="100"/>
          <a:sy n="69" d="100"/>
        </p:scale>
        <p:origin x="54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0AE80C-3661-490B-9D77-4D20AC27B41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Wir entwickeln ein Escape-Game, das direkt im Browser gespielt wird.</a:t>
            </a:r>
          </a:p>
          <a:p>
            <a:pPr lvl="0"/>
            <a:r>
              <a:rPr lang="de-CH" sz="1800" dirty="0"/>
              <a:t>Der Spieler ist in einer kaputten digitalen Simulation gefangen.</a:t>
            </a:r>
          </a:p>
          <a:p>
            <a:pPr lvl="0"/>
            <a:r>
              <a:rPr lang="de-CH" sz="1800" dirty="0"/>
              <a:t>Ziel ist es, Rätsel zu lösen und aus der Simulation zu entkommen.</a:t>
            </a:r>
          </a:p>
          <a:p>
            <a:pPr lvl="0"/>
            <a:r>
              <a:rPr lang="de-CH" sz="1800" dirty="0"/>
              <a:t>Nach 4 Wochen wollen wir eine erste spielbare Version haben.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0038EE-6059-4C47-AA1D-A5B09C49A6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Man erkundet verschiedene digitale Räume und sucht nach Hinweisen.</a:t>
            </a:r>
          </a:p>
          <a:p>
            <a:pPr lvl="0"/>
            <a:r>
              <a:rPr lang="de-CH" sz="1800" dirty="0"/>
              <a:t>Das Besondere ist unser Glitch-Modus.</a:t>
            </a:r>
          </a:p>
          <a:p>
            <a:pPr lvl="0"/>
            <a:r>
              <a:rPr lang="de-CH" sz="1800" dirty="0"/>
              <a:t>Wenn man diesen aktiviert, erscheinen versteckte Symbole und Hinweise.</a:t>
            </a:r>
          </a:p>
          <a:p>
            <a:pPr lvl="0"/>
            <a:r>
              <a:rPr lang="de-CH" sz="1800" dirty="0"/>
              <a:t>Mit diesen Informationen kann man Rätsel lösen und neue Räume freischalten.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B4923A-86F3-4DB9-9D01-FA10C087AD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So stellen wir uns die erste spielbare Version vor.</a:t>
            </a:r>
          </a:p>
          <a:p>
            <a:pPr lvl="0"/>
            <a:r>
              <a:rPr lang="de-CH" sz="1800" dirty="0"/>
              <a:t>Es gibt einen Raum mit drei unterschiedlichen Rätseln.</a:t>
            </a:r>
          </a:p>
          <a:p>
            <a:pPr lvl="0"/>
            <a:r>
              <a:rPr lang="de-CH" sz="1800" dirty="0"/>
              <a:t>Ein Countdown sorgt für zusätzlichen Zeitdruck.</a:t>
            </a:r>
          </a:p>
          <a:p>
            <a:pPr lvl="0"/>
            <a:r>
              <a:rPr lang="de-CH" sz="1800" dirty="0"/>
              <a:t>Durch den Glitch-Modus findet man versteckte Hinweise.</a:t>
            </a:r>
          </a:p>
          <a:p>
            <a:pPr lvl="0"/>
            <a:r>
              <a:rPr lang="de-CH" sz="1800" dirty="0"/>
              <a:t>Sobald alle Rätsel gelöst sind, öffnet sich der Ausgang.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56C456-B8AD-46EB-A7B5-A2040355EE6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Im fertigen Spiel soll es insgesamt fünf Levels geben.</a:t>
            </a:r>
          </a:p>
          <a:p>
            <a:pPr lvl="0"/>
            <a:r>
              <a:rPr lang="de-CH" sz="1800" dirty="0"/>
              <a:t>Die Rätsel werden mit jedem Level schwieriger.</a:t>
            </a:r>
          </a:p>
          <a:p>
            <a:pPr lvl="0"/>
            <a:r>
              <a:rPr lang="de-CH" sz="1800" dirty="0"/>
              <a:t>Spieler können ihren Fortschritt speichern und später weiterspielen.</a:t>
            </a:r>
          </a:p>
          <a:p>
            <a:pPr lvl="0"/>
            <a:r>
              <a:rPr lang="de-CH" sz="1800" dirty="0"/>
              <a:t>Zusätzlich planen wir ein Inventar und persönliche Bestzeiten.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525522-2067-41CE-A40A-FC83A1A24F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Wir haben das Projekt in zwei Phasen aufgeteilt.</a:t>
            </a:r>
          </a:p>
          <a:p>
            <a:pPr lvl="0"/>
            <a:r>
              <a:rPr lang="de-CH" sz="1800" dirty="0"/>
              <a:t>In den ersten vier Wochen konzentrieren wir uns auf die wichtigsten Funktionen.</a:t>
            </a:r>
          </a:p>
          <a:p>
            <a:pPr lvl="0"/>
            <a:r>
              <a:rPr lang="de-CH" sz="1800" dirty="0"/>
              <a:t>Danach erweitern wir das Spiel um zusätzliche Räume und Funktionen.</a:t>
            </a:r>
          </a:p>
          <a:p>
            <a:pPr lvl="0"/>
            <a:r>
              <a:rPr lang="de-CH" sz="1800" dirty="0"/>
              <a:t>Dadurch bleibt das Projekt realistisch und überschaubar.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ED0D5B-CBCD-48A1-9574-E4D361E320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Wir verwenden HTML und CSS für das Design.</a:t>
            </a:r>
          </a:p>
          <a:p>
            <a:pPr lvl="0"/>
            <a:r>
              <a:rPr lang="de-CH" sz="1800" dirty="0"/>
              <a:t>Mit JavaScript programmieren wir die Rätsel und Spielmechaniken.</a:t>
            </a:r>
          </a:p>
          <a:p>
            <a:pPr lvl="0"/>
            <a:r>
              <a:rPr lang="de-CH" sz="1800" dirty="0"/>
              <a:t>Mit </a:t>
            </a:r>
            <a:r>
              <a:rPr lang="de-CH" sz="1800" dirty="0" err="1"/>
              <a:t>localStorage</a:t>
            </a:r>
            <a:r>
              <a:rPr lang="de-CH" sz="1800" dirty="0"/>
              <a:t> können wir Spielstände lokal speichern.</a:t>
            </a:r>
          </a:p>
          <a:p>
            <a:pPr lvl="0"/>
            <a:r>
              <a:rPr lang="de-CH" sz="1800" dirty="0"/>
              <a:t>Für die Zusammenarbeit verwenden wir GitHub.</a:t>
            </a:r>
          </a:p>
          <a:p>
            <a:pPr lvl="0"/>
            <a:r>
              <a:rPr lang="de-CH" sz="1800" dirty="0"/>
              <a:t>Wir brauchen für das MVP keinen komplizierten Server.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A8C828-8C71-4AD9-9308-469BED3B90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Wir sind drei Entwickler und haben klare Verantwortlichkeiten.</a:t>
            </a:r>
          </a:p>
          <a:p>
            <a:pPr lvl="0"/>
            <a:r>
              <a:rPr lang="de-CH" sz="1800" dirty="0"/>
              <a:t>Faruk ist CEO und kümmert sich hauptsächlich um das Frontend und die Koordination.</a:t>
            </a:r>
          </a:p>
          <a:p>
            <a:pPr lvl="0"/>
            <a:r>
              <a:rPr lang="de-CH" sz="1800" dirty="0"/>
              <a:t>Kaito ist CTO und verantwortlich für GitHub und die Spiellogik.</a:t>
            </a:r>
          </a:p>
          <a:p>
            <a:pPr lvl="0"/>
            <a:r>
              <a:rPr lang="de-CH" sz="1800" dirty="0"/>
              <a:t>Laurentiu ist COO und kümmert sich um Zeitplanung, Rätsel und Tests.</a:t>
            </a:r>
          </a:p>
          <a:p>
            <a:pPr lvl="0"/>
            <a:r>
              <a:rPr lang="de-CH" sz="1800" dirty="0"/>
              <a:t>Trotzdem arbeiten alle drei aktiv an der Programmierung.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8B4245-ED16-4FA9-A46A-40992487FB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Wir haben für jedes Teammitglied vier konkrete Arbeitspakete geplant.</a:t>
            </a:r>
          </a:p>
          <a:p>
            <a:pPr lvl="0"/>
            <a:r>
              <a:rPr lang="de-CH" sz="1800" dirty="0"/>
              <a:t>Faruk beginnt mit der Startseite und dem Design.</a:t>
            </a:r>
          </a:p>
          <a:p>
            <a:pPr lvl="0"/>
            <a:r>
              <a:rPr lang="de-CH" sz="1800" dirty="0"/>
              <a:t>Kaito richtet das GitHub-Repository ein und entwickelt danach die Spiellogik.</a:t>
            </a:r>
          </a:p>
          <a:p>
            <a:pPr lvl="0"/>
            <a:r>
              <a:rPr lang="de-CH" sz="1800" dirty="0"/>
              <a:t>Laurentiu plant die ersten drei Rätsel und deren Lösungen.</a:t>
            </a:r>
          </a:p>
          <a:p>
            <a:pPr lvl="0"/>
            <a:r>
              <a:rPr lang="de-CH" sz="1800" dirty="0"/>
              <a:t>Dadurch kann jeder direkt mit seiner Arbeit beginnen.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3FBDB9-B5C8-4BAE-A76A-A2F07D1EB0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Hier sieht man unseren Zeitplan für die zehn Wochen.</a:t>
            </a:r>
          </a:p>
          <a:p>
            <a:pPr lvl="0"/>
            <a:r>
              <a:rPr lang="de-CH" sz="1800" dirty="0"/>
              <a:t>Am Anfang beschäftigen wir uns mit Design, Technik und den Rätseln.</a:t>
            </a:r>
          </a:p>
          <a:p>
            <a:pPr lvl="0"/>
            <a:r>
              <a:rPr lang="de-CH" sz="1800" dirty="0"/>
              <a:t>Bis zur vierten Woche wollen wir das erste Level vollständig spielbar haben.</a:t>
            </a:r>
          </a:p>
          <a:p>
            <a:pPr lvl="0"/>
            <a:r>
              <a:rPr lang="de-CH" sz="1800" dirty="0"/>
              <a:t>Danach entwickeln wir die restlichen Levels und zusätzlichen Funktionen.</a:t>
            </a:r>
          </a:p>
          <a:p>
            <a:pPr lvl="0"/>
            <a:r>
              <a:rPr lang="de-CH" sz="1800" dirty="0"/>
              <a:t>Zum Schluss konzentrieren wir uns auf Tests, Verbesserungen und die Präsentation.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D4B77C-C790-4DB1-B127-CF8F718C74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Hier haben wir den Ablauf unseres Pitches zusammengefasst.</a:t>
            </a:r>
          </a:p>
          <a:p>
            <a:pPr lvl="0"/>
            <a:r>
              <a:rPr lang="de-CH" sz="1800" dirty="0"/>
              <a:t>Wir beginnen mit der Spielidee und erklären die wichtigste Funktion.</a:t>
            </a:r>
          </a:p>
          <a:p>
            <a:pPr lvl="0"/>
            <a:r>
              <a:rPr lang="de-CH" sz="1800" dirty="0"/>
              <a:t>Danach zeigen wir die Mockups und unsere technische Umsetzung.</a:t>
            </a:r>
          </a:p>
          <a:p>
            <a:pPr lvl="0"/>
            <a:r>
              <a:rPr lang="de-CH" sz="1800" dirty="0"/>
              <a:t>Abschliessend erklären wir die Aufgabenverteilung und den Zeitplan.</a:t>
            </a:r>
          </a:p>
          <a:p>
            <a:pPr lvl="0"/>
            <a:r>
              <a:rPr lang="de-CH" sz="1800" dirty="0"/>
              <a:t>So können wir unser Projekt in ungefähr fünf Minuten vorstellen.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028B2D8-7A27-4632-BAAE-F9042CF460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lvl="0"/>
            <a:r>
              <a:rPr lang="de-CH" sz="1800" dirty="0"/>
              <a:t>Unser Ziel ist ein vollständiges und unterhaltsames Browser-Game.</a:t>
            </a:r>
          </a:p>
          <a:p>
            <a:pPr lvl="0"/>
            <a:r>
              <a:rPr lang="de-CH" sz="1800" dirty="0"/>
              <a:t>Das MVP soll nach vier Wochen funktionieren.</a:t>
            </a:r>
          </a:p>
          <a:p>
            <a:pPr lvl="0"/>
            <a:r>
              <a:rPr lang="de-CH" sz="1800" dirty="0"/>
              <a:t>Nach zehn Wochen wollen wir fünf spielbare Levels anbieten.</a:t>
            </a:r>
          </a:p>
          <a:p>
            <a:pPr lvl="0"/>
            <a:r>
              <a:rPr lang="de-CH" sz="1800" dirty="0"/>
              <a:t>Wir sind überzeugt, dass wir das Projekt durch unsere klare Aufgabenverteilung umsetzen können.</a:t>
            </a:r>
          </a:p>
          <a:p>
            <a:pPr lvl="0"/>
            <a:r>
              <a:rPr lang="de-CH" sz="1800" dirty="0"/>
              <a:t>Vielen Dank fürs Zuhören!</a:t>
            </a:r>
          </a:p>
          <a:p>
            <a:pPr indent="0">
              <a:buNone/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3341EB-FC7D-4D45-B4CA-8440E4D757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425000" y="685800"/>
            <a:ext cx="402120" cy="40680"/>
          </a:xfrm>
          <a:prstGeom prst="rect">
            <a:avLst/>
          </a:prstGeom>
          <a:solidFill>
            <a:srgbClr val="FF699A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8275320" y="685800"/>
            <a:ext cx="475200" cy="40680"/>
          </a:xfrm>
          <a:prstGeom prst="rect">
            <a:avLst/>
          </a:prstGeom>
          <a:solidFill>
            <a:srgbClr val="42E7D7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9125640" y="685800"/>
            <a:ext cx="54828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4"/>
          <p:cNvSpPr/>
          <p:nvPr/>
        </p:nvSpPr>
        <p:spPr>
          <a:xfrm>
            <a:off x="9975960" y="685800"/>
            <a:ext cx="40212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10826640" y="685800"/>
            <a:ext cx="475200" cy="40680"/>
          </a:xfrm>
          <a:prstGeom prst="rect">
            <a:avLst/>
          </a:prstGeom>
          <a:solidFill>
            <a:srgbClr val="FF699A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425000" y="1728360"/>
            <a:ext cx="548280" cy="40680"/>
          </a:xfrm>
          <a:prstGeom prst="rect">
            <a:avLst/>
          </a:prstGeom>
          <a:solidFill>
            <a:srgbClr val="42E7D7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7"/>
          <p:cNvSpPr/>
          <p:nvPr/>
        </p:nvSpPr>
        <p:spPr>
          <a:xfrm>
            <a:off x="8275320" y="1728360"/>
            <a:ext cx="40212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8"/>
          <p:cNvSpPr/>
          <p:nvPr/>
        </p:nvSpPr>
        <p:spPr>
          <a:xfrm>
            <a:off x="9125640" y="1728360"/>
            <a:ext cx="47520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9975960" y="1728360"/>
            <a:ext cx="548280" cy="40680"/>
          </a:xfrm>
          <a:prstGeom prst="rect">
            <a:avLst/>
          </a:prstGeom>
          <a:solidFill>
            <a:srgbClr val="FF699A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826640" y="1728360"/>
            <a:ext cx="402120" cy="40680"/>
          </a:xfrm>
          <a:prstGeom prst="rect">
            <a:avLst/>
          </a:prstGeom>
          <a:solidFill>
            <a:srgbClr val="42E7D7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1"/>
          <p:cNvSpPr/>
          <p:nvPr/>
        </p:nvSpPr>
        <p:spPr>
          <a:xfrm>
            <a:off x="7425000" y="2770560"/>
            <a:ext cx="47520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2"/>
          <p:cNvSpPr/>
          <p:nvPr/>
        </p:nvSpPr>
        <p:spPr>
          <a:xfrm>
            <a:off x="8275320" y="2770560"/>
            <a:ext cx="54828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9125640" y="2770560"/>
            <a:ext cx="402120" cy="40680"/>
          </a:xfrm>
          <a:prstGeom prst="rect">
            <a:avLst/>
          </a:prstGeom>
          <a:solidFill>
            <a:srgbClr val="FF699A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9975960" y="2770560"/>
            <a:ext cx="475200" cy="40680"/>
          </a:xfrm>
          <a:prstGeom prst="rect">
            <a:avLst/>
          </a:prstGeom>
          <a:solidFill>
            <a:srgbClr val="42E7D7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10826640" y="2770560"/>
            <a:ext cx="54828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7425000" y="3813120"/>
            <a:ext cx="40212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275320" y="3813120"/>
            <a:ext cx="475200" cy="40680"/>
          </a:xfrm>
          <a:prstGeom prst="rect">
            <a:avLst/>
          </a:prstGeom>
          <a:solidFill>
            <a:srgbClr val="FF699A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9125640" y="3813120"/>
            <a:ext cx="548280" cy="40680"/>
          </a:xfrm>
          <a:prstGeom prst="rect">
            <a:avLst/>
          </a:prstGeom>
          <a:solidFill>
            <a:srgbClr val="42E7D7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9"/>
          <p:cNvSpPr/>
          <p:nvPr/>
        </p:nvSpPr>
        <p:spPr>
          <a:xfrm>
            <a:off x="9975960" y="3813120"/>
            <a:ext cx="402120" cy="40680"/>
          </a:xfrm>
          <a:prstGeom prst="rect">
            <a:avLst/>
          </a:prstGeom>
          <a:solidFill>
            <a:srgbClr val="9B83FF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960" rIns="90000" bIns="-39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7059240" y="640080"/>
            <a:ext cx="4516920" cy="5248440"/>
          </a:xfrm>
          <a:prstGeom prst="roundRect">
            <a:avLst>
              <a:gd name="adj" fmla="val 242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7388280" y="987480"/>
            <a:ext cx="33829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2E7D7"/>
                </a:solidFill>
                <a:effectLst/>
                <a:uFillTx/>
                <a:latin typeface="Aptos Mono"/>
                <a:ea typeface="Aptos Mono"/>
              </a:rPr>
              <a:t>SYSTEM // OFFLINE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2"/>
          <p:cNvSpPr/>
          <p:nvPr/>
        </p:nvSpPr>
        <p:spPr>
          <a:xfrm>
            <a:off x="7388280" y="1398960"/>
            <a:ext cx="38404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3"/>
          <p:cNvSpPr/>
          <p:nvPr/>
        </p:nvSpPr>
        <p:spPr>
          <a:xfrm>
            <a:off x="7388280" y="1719000"/>
            <a:ext cx="36115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8B6CF"/>
                </a:solidFill>
                <a:effectLst/>
                <a:uFillTx/>
                <a:latin typeface="Aptos Mono"/>
                <a:ea typeface="Aptos Mono"/>
              </a:rPr>
              <a:t>&gt; CONNECTING...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7388280" y="2240280"/>
            <a:ext cx="3693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699A"/>
                </a:solidFill>
                <a:effectLst/>
                <a:uFillTx/>
                <a:latin typeface="Aptos Mono"/>
                <a:ea typeface="Aptos Mono"/>
              </a:rPr>
              <a:t>&gt; ACCESS DENIED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7388280" y="2761560"/>
            <a:ext cx="3693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2E7D7"/>
                </a:solidFill>
                <a:effectLst/>
                <a:uFillTx/>
                <a:latin typeface="Aptos Mono"/>
                <a:ea typeface="Aptos Mono"/>
              </a:rPr>
              <a:t>&gt; FIND THE EXIT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7388280" y="3694320"/>
            <a:ext cx="3821760" cy="1490040"/>
          </a:xfrm>
          <a:prstGeom prst="roundRect">
            <a:avLst>
              <a:gd name="adj" fmla="val 7362"/>
            </a:avLst>
          </a:prstGeom>
          <a:solidFill>
            <a:srgbClr val="111A2E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7607880" y="4096440"/>
            <a:ext cx="345600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9B83FF"/>
                </a:solidFill>
                <a:effectLst/>
                <a:uFillTx/>
                <a:latin typeface="Aptos Mono"/>
                <a:ea typeface="Aptos Mono"/>
              </a:rPr>
              <a:t>[      EXIT LOCKED      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8"/>
          <p:cNvSpPr/>
          <p:nvPr/>
        </p:nvSpPr>
        <p:spPr>
          <a:xfrm>
            <a:off x="640080" y="877680"/>
            <a:ext cx="5997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STARTUP-PITCH · LERNPERIODE 12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9"/>
          <p:cNvSpPr/>
          <p:nvPr/>
        </p:nvSpPr>
        <p:spPr>
          <a:xfrm>
            <a:off x="612720" y="1636920"/>
            <a:ext cx="6309000" cy="110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0" b="1" u="none" strike="noStrike" spc="30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7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0"/>
          <p:cNvSpPr/>
          <p:nvPr/>
        </p:nvSpPr>
        <p:spPr>
          <a:xfrm>
            <a:off x="694800" y="2843640"/>
            <a:ext cx="603468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ESCAPE THE SIMULATION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713160" y="3730680"/>
            <a:ext cx="5467680" cy="1078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Ein Browser-Escape-Game, </a:t>
            </a:r>
            <a:r>
              <a:rPr lang="en-US" sz="230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bei</a:t>
            </a: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 dem Fehler </a:t>
            </a:r>
            <a:r>
              <a:rPr lang="en-US" sz="230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im</a:t>
            </a: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 System </a:t>
            </a:r>
            <a:r>
              <a:rPr lang="en-US" sz="230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zu</a:t>
            </a: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30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versteckten</a:t>
            </a: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30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Hinweisen</a:t>
            </a: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230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werden</a:t>
            </a:r>
            <a:r>
              <a:rPr lang="en-US" sz="230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.</a:t>
            </a:r>
            <a:endParaRPr lang="en-US" sz="2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2"/>
          <p:cNvSpPr/>
          <p:nvPr/>
        </p:nvSpPr>
        <p:spPr>
          <a:xfrm>
            <a:off x="685800" y="5523120"/>
            <a:ext cx="230400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3"/>
          <p:cNvSpPr/>
          <p:nvPr/>
        </p:nvSpPr>
        <p:spPr>
          <a:xfrm>
            <a:off x="786240" y="5532120"/>
            <a:ext cx="210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MVP NACH 4 WOCHEN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34"/>
          <p:cNvSpPr/>
          <p:nvPr/>
        </p:nvSpPr>
        <p:spPr>
          <a:xfrm>
            <a:off x="3145680" y="5523120"/>
            <a:ext cx="292572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5"/>
          <p:cNvSpPr/>
          <p:nvPr/>
        </p:nvSpPr>
        <p:spPr>
          <a:xfrm>
            <a:off x="3246120" y="5532120"/>
            <a:ext cx="272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FINALE NACH 10 WOCHEN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6"/>
          <p:cNvSpPr/>
          <p:nvPr/>
        </p:nvSpPr>
        <p:spPr>
          <a:xfrm>
            <a:off x="685800" y="6208920"/>
            <a:ext cx="52117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Faruk · Kaito · Laurentiu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PROJEKTIDEE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Escape-Game mit einem besonderen Twist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Eine beschädigte Simulation sperrt den Spieler ein. Nur wer den Fehler versteht, findet hinaus.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02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8"/>
          <p:cNvSpPr/>
          <p:nvPr/>
        </p:nvSpPr>
        <p:spPr>
          <a:xfrm>
            <a:off x="539640" y="2112120"/>
            <a:ext cx="3602520" cy="2486880"/>
          </a:xfrm>
          <a:prstGeom prst="roundRect">
            <a:avLst>
              <a:gd name="adj" fmla="val 4412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740520" y="2350080"/>
            <a:ext cx="59400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841320" y="2359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749880" y="28530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Erkunden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749880" y="3429000"/>
            <a:ext cx="313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Digitale Räume untersuchen und verdächtige Elemente anklicken.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4389120" y="2112120"/>
            <a:ext cx="3602520" cy="2486880"/>
          </a:xfrm>
          <a:prstGeom prst="roundRect">
            <a:avLst>
              <a:gd name="adj" fmla="val 4412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4"/>
          <p:cNvSpPr/>
          <p:nvPr/>
        </p:nvSpPr>
        <p:spPr>
          <a:xfrm>
            <a:off x="4590360" y="2350080"/>
            <a:ext cx="59400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4690800" y="2359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4599360" y="28530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Glitch-Modus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4599360" y="3429000"/>
            <a:ext cx="313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Mit einem Klick wird die fehlerhafte Welt kurz sichtbar: geheime Symbole und Hinweise erscheinen.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8"/>
          <p:cNvSpPr/>
          <p:nvPr/>
        </p:nvSpPr>
        <p:spPr>
          <a:xfrm>
            <a:off x="8238600" y="2112120"/>
            <a:ext cx="3602520" cy="2486880"/>
          </a:xfrm>
          <a:prstGeom prst="roundRect">
            <a:avLst>
              <a:gd name="adj" fmla="val 4412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9"/>
          <p:cNvSpPr/>
          <p:nvPr/>
        </p:nvSpPr>
        <p:spPr>
          <a:xfrm>
            <a:off x="8439840" y="2350080"/>
            <a:ext cx="59400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0"/>
          <p:cNvSpPr/>
          <p:nvPr/>
        </p:nvSpPr>
        <p:spPr>
          <a:xfrm>
            <a:off x="8540640" y="2359080"/>
            <a:ext cx="392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1"/>
          <p:cNvSpPr/>
          <p:nvPr/>
        </p:nvSpPr>
        <p:spPr>
          <a:xfrm>
            <a:off x="8449200" y="28530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Rätsel lösen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2"/>
          <p:cNvSpPr/>
          <p:nvPr/>
        </p:nvSpPr>
        <p:spPr>
          <a:xfrm>
            <a:off x="8449200" y="3429000"/>
            <a:ext cx="31359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Codes, Muster und Logikrätsel knacken, um den Ausgang zu öffnen.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3"/>
          <p:cNvSpPr/>
          <p:nvPr/>
        </p:nvSpPr>
        <p:spPr>
          <a:xfrm>
            <a:off x="539640" y="4901040"/>
            <a:ext cx="11283480" cy="1032840"/>
          </a:xfrm>
          <a:prstGeom prst="roundRect">
            <a:avLst>
              <a:gd name="adj" fmla="val 10619"/>
            </a:avLst>
          </a:prstGeom>
          <a:solidFill>
            <a:srgbClr val="1B2742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4"/>
          <p:cNvSpPr/>
          <p:nvPr/>
        </p:nvSpPr>
        <p:spPr>
          <a:xfrm>
            <a:off x="777240" y="5129640"/>
            <a:ext cx="141696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UNSER USP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5"/>
          <p:cNvSpPr/>
          <p:nvPr/>
        </p:nvSpPr>
        <p:spPr>
          <a:xfrm>
            <a:off x="2331720" y="5010840"/>
            <a:ext cx="9088920" cy="67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Die Spielwelt hat zwei Zustände: NORMAL und GLITCH. Hinweise sind nur im richtigen Moment sichtbar.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MOCKUP 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MVP – ein spielbarer Raum nach Woche 4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Ein komplettes Level mit drei Rätseln, Countdown, Glitch-Modus und einem Ausgang.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03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557640" y="1993320"/>
            <a:ext cx="11082240" cy="3977280"/>
          </a:xfrm>
          <a:prstGeom prst="roundRect">
            <a:avLst>
              <a:gd name="adj" fmla="val 2759"/>
            </a:avLst>
          </a:prstGeom>
          <a:solidFill>
            <a:srgbClr val="020611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557640" y="1993320"/>
            <a:ext cx="11082240" cy="475200"/>
          </a:xfrm>
          <a:prstGeom prst="rect">
            <a:avLst/>
          </a:prstGeom>
          <a:solidFill>
            <a:srgbClr val="151E33"/>
          </a:solidFill>
          <a:ln w="12700">
            <a:solidFill>
              <a:srgbClr val="151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0"/>
          <p:cNvSpPr/>
          <p:nvPr/>
        </p:nvSpPr>
        <p:spPr>
          <a:xfrm>
            <a:off x="758880" y="2157840"/>
            <a:ext cx="77400" cy="77400"/>
          </a:xfrm>
          <a:prstGeom prst="ellipse">
            <a:avLst/>
          </a:prstGeom>
          <a:solidFill>
            <a:srgbClr val="FF699A"/>
          </a:solidFill>
          <a:ln w="12700">
            <a:solidFill>
              <a:srgbClr val="FF699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923400" y="2157840"/>
            <a:ext cx="77400" cy="77400"/>
          </a:xfrm>
          <a:prstGeom prst="ellipse">
            <a:avLst/>
          </a:prstGeom>
          <a:solidFill>
            <a:srgbClr val="FFD578"/>
          </a:solidFill>
          <a:ln w="12700">
            <a:solidFill>
              <a:srgbClr val="FFD5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1088280" y="2157840"/>
            <a:ext cx="77400" cy="77400"/>
          </a:xfrm>
          <a:prstGeom prst="ellipse">
            <a:avLst/>
          </a:prstGeom>
          <a:solidFill>
            <a:srgbClr val="5FE3A5"/>
          </a:solidFill>
          <a:ln w="12700">
            <a:solidFill>
              <a:srgbClr val="5FE3A5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0080" rIns="90000" bIns="100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1417320" y="2103120"/>
            <a:ext cx="603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2E7D7"/>
                </a:solidFill>
                <a:effectLst/>
                <a:uFillTx/>
                <a:latin typeface="Aptos Mono"/>
                <a:ea typeface="Aptos Mono"/>
              </a:rPr>
              <a:t>GLITCH.EXE  /  LEVEL 01: DER SERVER-RAUM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4"/>
          <p:cNvSpPr/>
          <p:nvPr/>
        </p:nvSpPr>
        <p:spPr>
          <a:xfrm>
            <a:off x="8878680" y="2080440"/>
            <a:ext cx="932400" cy="301320"/>
          </a:xfrm>
          <a:prstGeom prst="roundRect">
            <a:avLst>
              <a:gd name="adj" fmla="val 36364"/>
            </a:avLst>
          </a:prstGeom>
          <a:solidFill>
            <a:srgbClr val="090E1C"/>
          </a:solidFill>
          <a:ln w="12700">
            <a:solidFill>
              <a:srgbClr val="090E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5"/>
          <p:cNvSpPr/>
          <p:nvPr/>
        </p:nvSpPr>
        <p:spPr>
          <a:xfrm>
            <a:off x="8979480" y="2089440"/>
            <a:ext cx="731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D578"/>
                </a:solidFill>
                <a:effectLst/>
                <a:uFillTx/>
                <a:latin typeface="Aptos"/>
                <a:ea typeface="Aptos"/>
              </a:rPr>
              <a:t>05:00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6"/>
          <p:cNvSpPr/>
          <p:nvPr/>
        </p:nvSpPr>
        <p:spPr>
          <a:xfrm>
            <a:off x="9902880" y="2080440"/>
            <a:ext cx="1444320" cy="301320"/>
          </a:xfrm>
          <a:prstGeom prst="roundRect">
            <a:avLst>
              <a:gd name="adj" fmla="val 36364"/>
            </a:avLst>
          </a:prstGeom>
          <a:solidFill>
            <a:srgbClr val="090E1C"/>
          </a:solidFill>
          <a:ln w="12700">
            <a:solidFill>
              <a:srgbClr val="090E1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7"/>
          <p:cNvSpPr/>
          <p:nvPr/>
        </p:nvSpPr>
        <p:spPr>
          <a:xfrm>
            <a:off x="10003680" y="2089440"/>
            <a:ext cx="12430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3 / 3 RÄTSEL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8"/>
          <p:cNvSpPr/>
          <p:nvPr/>
        </p:nvSpPr>
        <p:spPr>
          <a:xfrm>
            <a:off x="768240" y="2715840"/>
            <a:ext cx="7022160" cy="3008160"/>
          </a:xfrm>
          <a:prstGeom prst="roundRect">
            <a:avLst>
              <a:gd name="adj" fmla="val 3647"/>
            </a:avLst>
          </a:prstGeom>
          <a:solidFill>
            <a:srgbClr val="020611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>
            <a:off x="76788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0"/>
          <p:cNvSpPr/>
          <p:nvPr/>
        </p:nvSpPr>
        <p:spPr>
          <a:xfrm>
            <a:off x="164592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252360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2"/>
          <p:cNvSpPr/>
          <p:nvPr/>
        </p:nvSpPr>
        <p:spPr>
          <a:xfrm>
            <a:off x="340128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3"/>
          <p:cNvSpPr/>
          <p:nvPr/>
        </p:nvSpPr>
        <p:spPr>
          <a:xfrm>
            <a:off x="427932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4"/>
          <p:cNvSpPr/>
          <p:nvPr/>
        </p:nvSpPr>
        <p:spPr>
          <a:xfrm>
            <a:off x="515700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5"/>
          <p:cNvSpPr/>
          <p:nvPr/>
        </p:nvSpPr>
        <p:spPr>
          <a:xfrm>
            <a:off x="603504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6"/>
          <p:cNvSpPr/>
          <p:nvPr/>
        </p:nvSpPr>
        <p:spPr>
          <a:xfrm>
            <a:off x="6912720" y="2715480"/>
            <a:ext cx="360" cy="300852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7"/>
          <p:cNvSpPr/>
          <p:nvPr/>
        </p:nvSpPr>
        <p:spPr>
          <a:xfrm>
            <a:off x="767880" y="2715480"/>
            <a:ext cx="7022520" cy="36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>
            <a:off x="767880" y="3317400"/>
            <a:ext cx="7022520" cy="36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767880" y="3918960"/>
            <a:ext cx="7022520" cy="36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0"/>
          <p:cNvSpPr/>
          <p:nvPr/>
        </p:nvSpPr>
        <p:spPr>
          <a:xfrm>
            <a:off x="767880" y="4520520"/>
            <a:ext cx="7022520" cy="36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1"/>
          <p:cNvSpPr/>
          <p:nvPr/>
        </p:nvSpPr>
        <p:spPr>
          <a:xfrm>
            <a:off x="767880" y="5122440"/>
            <a:ext cx="7022520" cy="360"/>
          </a:xfrm>
          <a:prstGeom prst="line">
            <a:avLst/>
          </a:prstGeom>
          <a:ln w="8255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2"/>
          <p:cNvSpPr/>
          <p:nvPr/>
        </p:nvSpPr>
        <p:spPr>
          <a:xfrm>
            <a:off x="1033200" y="2935080"/>
            <a:ext cx="1371240" cy="557280"/>
          </a:xfrm>
          <a:prstGeom prst="rect">
            <a:avLst/>
          </a:prstGeom>
          <a:solidFill>
            <a:srgbClr val="1B2742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1134000" y="3099960"/>
            <a:ext cx="117000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B83FF"/>
                </a:solidFill>
                <a:effectLst/>
                <a:uFillTx/>
                <a:latin typeface="Aptos Mono"/>
                <a:ea typeface="Aptos Mono"/>
              </a:rPr>
              <a:t>101 011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4"/>
          <p:cNvSpPr/>
          <p:nvPr/>
        </p:nvSpPr>
        <p:spPr>
          <a:xfrm>
            <a:off x="3008520" y="3163680"/>
            <a:ext cx="1471680" cy="1206720"/>
          </a:xfrm>
          <a:prstGeom prst="rect">
            <a:avLst/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5"/>
          <p:cNvSpPr/>
          <p:nvPr/>
        </p:nvSpPr>
        <p:spPr>
          <a:xfrm>
            <a:off x="3227760" y="3346560"/>
            <a:ext cx="1023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2E7D7"/>
                </a:solidFill>
                <a:effectLst/>
                <a:uFillTx/>
                <a:latin typeface="Aptos Mono"/>
                <a:ea typeface="Aptos Mono"/>
              </a:rPr>
              <a:t>KONSOLE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6"/>
          <p:cNvSpPr/>
          <p:nvPr/>
        </p:nvSpPr>
        <p:spPr>
          <a:xfrm>
            <a:off x="3209400" y="3840480"/>
            <a:ext cx="1023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F4F8FF"/>
                </a:solidFill>
                <a:effectLst/>
                <a:uFillTx/>
                <a:latin typeface="Aptos Mono"/>
                <a:ea typeface="Aptos Mono"/>
              </a:rPr>
              <a:t> _  _  _ 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7"/>
          <p:cNvSpPr/>
          <p:nvPr/>
        </p:nvSpPr>
        <p:spPr>
          <a:xfrm>
            <a:off x="5888880" y="2935080"/>
            <a:ext cx="1279800" cy="2331360"/>
          </a:xfrm>
          <a:prstGeom prst="rect">
            <a:avLst/>
          </a:prstGeom>
          <a:solidFill>
            <a:srgbClr val="111A2E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8"/>
          <p:cNvSpPr/>
          <p:nvPr/>
        </p:nvSpPr>
        <p:spPr>
          <a:xfrm>
            <a:off x="6053400" y="3090600"/>
            <a:ext cx="968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EXIT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9"/>
          <p:cNvSpPr/>
          <p:nvPr/>
        </p:nvSpPr>
        <p:spPr>
          <a:xfrm>
            <a:off x="6903720" y="4187880"/>
            <a:ext cx="127800" cy="127800"/>
          </a:xfrm>
          <a:prstGeom prst="ellipse">
            <a:avLst/>
          </a:prstGeom>
          <a:solidFill>
            <a:srgbClr val="FFD578"/>
          </a:solidFill>
          <a:ln w="12700">
            <a:solidFill>
              <a:srgbClr val="FFD5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0"/>
          <p:cNvSpPr/>
          <p:nvPr/>
        </p:nvSpPr>
        <p:spPr>
          <a:xfrm>
            <a:off x="5074920" y="4425840"/>
            <a:ext cx="338040" cy="33804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F4F8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41"/>
          <p:cNvSpPr/>
          <p:nvPr/>
        </p:nvSpPr>
        <p:spPr>
          <a:xfrm>
            <a:off x="4892040" y="4736520"/>
            <a:ext cx="712800" cy="264960"/>
          </a:xfrm>
          <a:prstGeom prst="roundRect">
            <a:avLst>
              <a:gd name="adj" fmla="val 41379"/>
            </a:avLst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42"/>
          <p:cNvSpPr/>
          <p:nvPr/>
        </p:nvSpPr>
        <p:spPr>
          <a:xfrm>
            <a:off x="8001000" y="2715840"/>
            <a:ext cx="3419640" cy="3017160"/>
          </a:xfrm>
          <a:prstGeom prst="roundRect">
            <a:avLst>
              <a:gd name="adj" fmla="val 3636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8266320" y="2935080"/>
            <a:ext cx="286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A8B6CF"/>
                </a:solidFill>
                <a:effectLst/>
                <a:uFillTx/>
                <a:latin typeface="Aptos Mono"/>
                <a:ea typeface="Aptos Mono"/>
              </a:rPr>
              <a:t>SYSTEM STATUS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4"/>
          <p:cNvSpPr/>
          <p:nvPr/>
        </p:nvSpPr>
        <p:spPr>
          <a:xfrm>
            <a:off x="8265960" y="3328200"/>
            <a:ext cx="2853000" cy="360"/>
          </a:xfrm>
          <a:prstGeom prst="line">
            <a:avLst/>
          </a:prstGeom>
          <a:ln w="1143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8256960" y="35204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4F8FF"/>
                </a:solidFill>
                <a:effectLst/>
                <a:uFillTx/>
                <a:latin typeface="Aptos Mono"/>
                <a:ea typeface="Aptos Mono"/>
              </a:rPr>
              <a:t>&gt; CODE: ???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6"/>
          <p:cNvSpPr/>
          <p:nvPr/>
        </p:nvSpPr>
        <p:spPr>
          <a:xfrm>
            <a:off x="8256960" y="392292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FF699A"/>
                </a:solidFill>
                <a:effectLst/>
                <a:uFillTx/>
                <a:latin typeface="Aptos Mono"/>
                <a:ea typeface="Aptos Mono"/>
              </a:rPr>
              <a:t>&gt; EXIT: LOCKED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7"/>
          <p:cNvSpPr/>
          <p:nvPr/>
        </p:nvSpPr>
        <p:spPr>
          <a:xfrm>
            <a:off x="8275320" y="4489560"/>
            <a:ext cx="2843280" cy="722160"/>
          </a:xfrm>
          <a:prstGeom prst="roundRect">
            <a:avLst>
              <a:gd name="adj" fmla="val 15190"/>
            </a:avLst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8"/>
          <p:cNvSpPr/>
          <p:nvPr/>
        </p:nvSpPr>
        <p:spPr>
          <a:xfrm>
            <a:off x="8385120" y="4626720"/>
            <a:ext cx="263304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20611"/>
                </a:solidFill>
                <a:effectLst/>
                <a:uFillTx/>
                <a:latin typeface="Aptos"/>
                <a:ea typeface="Aptos"/>
              </a:rPr>
              <a:t>GLITCH-MODUS [G]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9"/>
          <p:cNvSpPr/>
          <p:nvPr/>
        </p:nvSpPr>
        <p:spPr>
          <a:xfrm>
            <a:off x="8312040" y="6044040"/>
            <a:ext cx="32731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* Illustrativer Mockup, noch kein fertiges Spiel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MOCKUP 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Endprodukt – mehrere Welten &amp; Fortschritt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Spannende Story, Level-Auswahl, Gegenstände und persönliche Bestzeiten.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04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8"/>
          <p:cNvSpPr/>
          <p:nvPr/>
        </p:nvSpPr>
        <p:spPr>
          <a:xfrm>
            <a:off x="557640" y="1993320"/>
            <a:ext cx="11072880" cy="4032000"/>
          </a:xfrm>
          <a:prstGeom prst="roundRect">
            <a:avLst>
              <a:gd name="adj" fmla="val 2721"/>
            </a:avLst>
          </a:prstGeom>
          <a:solidFill>
            <a:srgbClr val="020611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567000" y="1993320"/>
            <a:ext cx="11054880" cy="465840"/>
          </a:xfrm>
          <a:prstGeom prst="rect">
            <a:avLst/>
          </a:prstGeom>
          <a:solidFill>
            <a:srgbClr val="151E33"/>
          </a:solidFill>
          <a:ln w="12700">
            <a:solidFill>
              <a:srgbClr val="151E3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877680" y="211212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2E7D7"/>
                </a:solidFill>
                <a:effectLst/>
                <a:uFillTx/>
                <a:latin typeface="Aptos Mono"/>
                <a:ea typeface="Aptos Mono"/>
              </a:rPr>
              <a:t>GLITCH  //  CONTROL CENTER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8439840" y="2121480"/>
            <a:ext cx="2825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8B6CF"/>
                </a:solidFill>
                <a:effectLst/>
                <a:uFillTx/>
                <a:latin typeface="Aptos Mono"/>
                <a:ea typeface="Aptos Mono"/>
              </a:rPr>
              <a:t>PLAYER_01  ·  3/5 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2"/>
          <p:cNvSpPr/>
          <p:nvPr/>
        </p:nvSpPr>
        <p:spPr>
          <a:xfrm>
            <a:off x="804600" y="2697480"/>
            <a:ext cx="3849120" cy="3099600"/>
          </a:xfrm>
          <a:prstGeom prst="roundRect">
            <a:avLst>
              <a:gd name="adj" fmla="val 3540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1024200" y="3008520"/>
            <a:ext cx="35017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WILLKOMMEN ZURÜCK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4"/>
          <p:cNvSpPr/>
          <p:nvPr/>
        </p:nvSpPr>
        <p:spPr>
          <a:xfrm>
            <a:off x="1024200" y="3410640"/>
            <a:ext cx="3419640" cy="89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Noch 2 Räume bis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zur Freiheit.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5"/>
          <p:cNvSpPr/>
          <p:nvPr/>
        </p:nvSpPr>
        <p:spPr>
          <a:xfrm>
            <a:off x="1024200" y="4654440"/>
            <a:ext cx="3227400" cy="612360"/>
          </a:xfrm>
          <a:prstGeom prst="roundRect">
            <a:avLst>
              <a:gd name="adj" fmla="val 17910"/>
            </a:avLst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1134000" y="4846320"/>
            <a:ext cx="2998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20611"/>
                </a:solidFill>
                <a:effectLst/>
                <a:uFillTx/>
                <a:latin typeface="Aptos"/>
                <a:ea typeface="Aptos"/>
              </a:rPr>
              <a:t>SPIEL FORTSETZEN  ›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4910400" y="2734200"/>
            <a:ext cx="1874160" cy="1161000"/>
          </a:xfrm>
          <a:prstGeom prst="roundRect">
            <a:avLst>
              <a:gd name="adj" fmla="val 9449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8"/>
          <p:cNvSpPr/>
          <p:nvPr/>
        </p:nvSpPr>
        <p:spPr>
          <a:xfrm>
            <a:off x="5056560" y="2862000"/>
            <a:ext cx="585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FE3A5"/>
                </a:solidFill>
                <a:effectLst/>
                <a:uFillTx/>
                <a:latin typeface="Aptos"/>
                <a:ea typeface="Aptos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5038200" y="3355920"/>
            <a:ext cx="167292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BOOT-SEKTOR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6346080" y="2853000"/>
            <a:ext cx="29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FE3A5"/>
                </a:solidFill>
                <a:effectLst/>
                <a:uFillTx/>
                <a:latin typeface="Aptos"/>
                <a:ea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1"/>
          <p:cNvSpPr/>
          <p:nvPr/>
        </p:nvSpPr>
        <p:spPr>
          <a:xfrm>
            <a:off x="7013520" y="2734200"/>
            <a:ext cx="1874160" cy="1161000"/>
          </a:xfrm>
          <a:prstGeom prst="roundRect">
            <a:avLst>
              <a:gd name="adj" fmla="val 9449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2"/>
          <p:cNvSpPr/>
          <p:nvPr/>
        </p:nvSpPr>
        <p:spPr>
          <a:xfrm>
            <a:off x="7159680" y="2862000"/>
            <a:ext cx="585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FE3A5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3"/>
          <p:cNvSpPr/>
          <p:nvPr/>
        </p:nvSpPr>
        <p:spPr>
          <a:xfrm>
            <a:off x="7141320" y="3355920"/>
            <a:ext cx="167292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SERVER-RAUM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4"/>
          <p:cNvSpPr/>
          <p:nvPr/>
        </p:nvSpPr>
        <p:spPr>
          <a:xfrm>
            <a:off x="8449200" y="2853000"/>
            <a:ext cx="29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FE3A5"/>
                </a:solidFill>
                <a:effectLst/>
                <a:uFillTx/>
                <a:latin typeface="Aptos"/>
                <a:ea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5"/>
          <p:cNvSpPr/>
          <p:nvPr/>
        </p:nvSpPr>
        <p:spPr>
          <a:xfrm>
            <a:off x="9116640" y="2734200"/>
            <a:ext cx="1874160" cy="1161000"/>
          </a:xfrm>
          <a:prstGeom prst="roundRect">
            <a:avLst>
              <a:gd name="adj" fmla="val 9449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6"/>
          <p:cNvSpPr/>
          <p:nvPr/>
        </p:nvSpPr>
        <p:spPr>
          <a:xfrm>
            <a:off x="9262800" y="2862000"/>
            <a:ext cx="585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5FE3A5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7"/>
          <p:cNvSpPr/>
          <p:nvPr/>
        </p:nvSpPr>
        <p:spPr>
          <a:xfrm>
            <a:off x="9244440" y="3355920"/>
            <a:ext cx="167292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FEHLERKERN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8"/>
          <p:cNvSpPr/>
          <p:nvPr/>
        </p:nvSpPr>
        <p:spPr>
          <a:xfrm>
            <a:off x="10552320" y="2853000"/>
            <a:ext cx="29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5FE3A5"/>
                </a:solidFill>
                <a:effectLst/>
                <a:uFillTx/>
                <a:latin typeface="Aptos"/>
                <a:ea typeface="Aptos"/>
              </a:rPr>
              <a:t>✓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9"/>
          <p:cNvSpPr/>
          <p:nvPr/>
        </p:nvSpPr>
        <p:spPr>
          <a:xfrm>
            <a:off x="4910400" y="4087440"/>
            <a:ext cx="1874160" cy="1161000"/>
          </a:xfrm>
          <a:prstGeom prst="roundRect">
            <a:avLst>
              <a:gd name="adj" fmla="val 9449"/>
            </a:avLst>
          </a:prstGeom>
          <a:solidFill>
            <a:srgbClr val="1B2742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0"/>
          <p:cNvSpPr/>
          <p:nvPr/>
        </p:nvSpPr>
        <p:spPr>
          <a:xfrm>
            <a:off x="5056560" y="4215240"/>
            <a:ext cx="585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D578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1"/>
          <p:cNvSpPr/>
          <p:nvPr/>
        </p:nvSpPr>
        <p:spPr>
          <a:xfrm>
            <a:off x="5038200" y="4709160"/>
            <a:ext cx="167292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ARCHIV 404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2"/>
          <p:cNvSpPr/>
          <p:nvPr/>
        </p:nvSpPr>
        <p:spPr>
          <a:xfrm>
            <a:off x="6346080" y="4206240"/>
            <a:ext cx="29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D578"/>
                </a:solidFill>
                <a:effectLst/>
                <a:uFillTx/>
                <a:latin typeface="Aptos"/>
                <a:ea typeface="Aptos"/>
              </a:rPr>
              <a:t>►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3"/>
          <p:cNvSpPr/>
          <p:nvPr/>
        </p:nvSpPr>
        <p:spPr>
          <a:xfrm>
            <a:off x="7013520" y="4087440"/>
            <a:ext cx="1874160" cy="1161000"/>
          </a:xfrm>
          <a:prstGeom prst="roundRect">
            <a:avLst>
              <a:gd name="adj" fmla="val 9449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4"/>
          <p:cNvSpPr/>
          <p:nvPr/>
        </p:nvSpPr>
        <p:spPr>
          <a:xfrm>
            <a:off x="7159680" y="4215240"/>
            <a:ext cx="5850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5"/>
          <p:cNvSpPr/>
          <p:nvPr/>
        </p:nvSpPr>
        <p:spPr>
          <a:xfrm>
            <a:off x="7141320" y="4709160"/>
            <a:ext cx="1672920" cy="2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DER AUSGANG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6"/>
          <p:cNvSpPr/>
          <p:nvPr/>
        </p:nvSpPr>
        <p:spPr>
          <a:xfrm>
            <a:off x="8449200" y="4206240"/>
            <a:ext cx="292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🔒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7"/>
          <p:cNvSpPr/>
          <p:nvPr/>
        </p:nvSpPr>
        <p:spPr>
          <a:xfrm>
            <a:off x="9281160" y="5312520"/>
            <a:ext cx="19198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HIGHLIGHTS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8"/>
          <p:cNvSpPr/>
          <p:nvPr/>
        </p:nvSpPr>
        <p:spPr>
          <a:xfrm>
            <a:off x="8467200" y="5586840"/>
            <a:ext cx="28252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Story · Inventar · Rekorde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UMFANG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Vom MVP zum vollständigen Escape-Game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Wir begrenzen das MVP bewusst. Zusätzliche Features kommen erst danach.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05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576000" y="2002680"/>
            <a:ext cx="5403600" cy="4077720"/>
          </a:xfrm>
          <a:prstGeom prst="roundRect">
            <a:avLst>
              <a:gd name="adj" fmla="val 2691"/>
            </a:avLst>
          </a:prstGeom>
          <a:solidFill>
            <a:srgbClr val="151E33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6208920" y="2002680"/>
            <a:ext cx="5403600" cy="4077720"/>
          </a:xfrm>
          <a:prstGeom prst="roundRect">
            <a:avLst>
              <a:gd name="adj" fmla="val 2691"/>
            </a:avLst>
          </a:prstGeom>
          <a:solidFill>
            <a:srgbClr val="151E33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0"/>
          <p:cNvSpPr/>
          <p:nvPr/>
        </p:nvSpPr>
        <p:spPr>
          <a:xfrm>
            <a:off x="804600" y="2249280"/>
            <a:ext cx="157248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905400" y="2258640"/>
            <a:ext cx="1371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WOCHE 1–4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813960" y="2670120"/>
            <a:ext cx="476352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MVP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3"/>
          <p:cNvSpPr/>
          <p:nvPr/>
        </p:nvSpPr>
        <p:spPr>
          <a:xfrm>
            <a:off x="896040" y="340632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4"/>
          <p:cNvSpPr/>
          <p:nvPr/>
        </p:nvSpPr>
        <p:spPr>
          <a:xfrm>
            <a:off x="1124640" y="331020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1 spielbarer Raum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896040" y="391824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1124640" y="382212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3 Rätsel (Code, Muster, Logik)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896040" y="443016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8"/>
          <p:cNvSpPr/>
          <p:nvPr/>
        </p:nvSpPr>
        <p:spPr>
          <a:xfrm>
            <a:off x="1124640" y="433440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Glitch-Modus enthüllt Hinweise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9"/>
          <p:cNvSpPr/>
          <p:nvPr/>
        </p:nvSpPr>
        <p:spPr>
          <a:xfrm>
            <a:off x="896040" y="494244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0"/>
          <p:cNvSpPr/>
          <p:nvPr/>
        </p:nvSpPr>
        <p:spPr>
          <a:xfrm>
            <a:off x="1124640" y="484632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Timer und Gewinnbildschirm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6437520" y="2249280"/>
            <a:ext cx="163656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2"/>
          <p:cNvSpPr/>
          <p:nvPr/>
        </p:nvSpPr>
        <p:spPr>
          <a:xfrm>
            <a:off x="6537960" y="2258640"/>
            <a:ext cx="1435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WOCHE 5–10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3"/>
          <p:cNvSpPr/>
          <p:nvPr/>
        </p:nvSpPr>
        <p:spPr>
          <a:xfrm>
            <a:off x="6446520" y="2670120"/>
            <a:ext cx="4763520" cy="53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Endprodukt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4"/>
          <p:cNvSpPr/>
          <p:nvPr/>
        </p:nvSpPr>
        <p:spPr>
          <a:xfrm>
            <a:off x="6528960" y="340632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6757560" y="331020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5 Räume mit Story &amp; Schwierigkeitsgrad</a:t>
            </a:r>
            <a:endParaRPr lang="en-US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6"/>
          <p:cNvSpPr/>
          <p:nvPr/>
        </p:nvSpPr>
        <p:spPr>
          <a:xfrm>
            <a:off x="6528960" y="391824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7"/>
          <p:cNvSpPr/>
          <p:nvPr/>
        </p:nvSpPr>
        <p:spPr>
          <a:xfrm>
            <a:off x="6757560" y="382212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Inventar und zusätzliche Rätseltypen</a:t>
            </a:r>
            <a:endParaRPr lang="en-US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8"/>
          <p:cNvSpPr/>
          <p:nvPr/>
        </p:nvSpPr>
        <p:spPr>
          <a:xfrm>
            <a:off x="6528960" y="443016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9"/>
          <p:cNvSpPr/>
          <p:nvPr/>
        </p:nvSpPr>
        <p:spPr>
          <a:xfrm>
            <a:off x="6757560" y="433440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Hinweissystem mit Zeitabzug</a:t>
            </a:r>
            <a:endParaRPr lang="en-US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0"/>
          <p:cNvSpPr/>
          <p:nvPr/>
        </p:nvSpPr>
        <p:spPr>
          <a:xfrm>
            <a:off x="6528960" y="494244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1"/>
          <p:cNvSpPr/>
          <p:nvPr/>
        </p:nvSpPr>
        <p:spPr>
          <a:xfrm>
            <a:off x="6757560" y="4846320"/>
            <a:ext cx="457164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Lokale Bestzeiten + Feinschliff</a:t>
            </a:r>
            <a:endParaRPr lang="en-US" sz="15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UMSETZUNG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So erreichen wir das Ziel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Wir setzen auf vertraute Webtechnologien und arbeiten gleichzeitig an klar getrennten Modulen.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06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8"/>
          <p:cNvSpPr/>
          <p:nvPr/>
        </p:nvSpPr>
        <p:spPr>
          <a:xfrm>
            <a:off x="567000" y="2075760"/>
            <a:ext cx="5412960" cy="1170000"/>
          </a:xfrm>
          <a:prstGeom prst="roundRect">
            <a:avLst>
              <a:gd name="adj" fmla="val 937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9"/>
          <p:cNvSpPr/>
          <p:nvPr/>
        </p:nvSpPr>
        <p:spPr>
          <a:xfrm>
            <a:off x="768240" y="2386440"/>
            <a:ext cx="447840" cy="44784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0"/>
          <p:cNvSpPr/>
          <p:nvPr/>
        </p:nvSpPr>
        <p:spPr>
          <a:xfrm>
            <a:off x="1444680" y="2277000"/>
            <a:ext cx="4196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HTML / CSS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1"/>
          <p:cNvSpPr/>
          <p:nvPr/>
        </p:nvSpPr>
        <p:spPr>
          <a:xfrm>
            <a:off x="1444680" y="273420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Oberfläche, Räume, Animationen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2"/>
          <p:cNvSpPr/>
          <p:nvPr/>
        </p:nvSpPr>
        <p:spPr>
          <a:xfrm>
            <a:off x="6245280" y="2075760"/>
            <a:ext cx="5412960" cy="1170000"/>
          </a:xfrm>
          <a:prstGeom prst="roundRect">
            <a:avLst>
              <a:gd name="adj" fmla="val 937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3"/>
          <p:cNvSpPr/>
          <p:nvPr/>
        </p:nvSpPr>
        <p:spPr>
          <a:xfrm>
            <a:off x="6446520" y="2386440"/>
            <a:ext cx="447840" cy="44784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4"/>
          <p:cNvSpPr/>
          <p:nvPr/>
        </p:nvSpPr>
        <p:spPr>
          <a:xfrm>
            <a:off x="7123320" y="2277000"/>
            <a:ext cx="4196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JavaScript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5"/>
          <p:cNvSpPr/>
          <p:nvPr/>
        </p:nvSpPr>
        <p:spPr>
          <a:xfrm>
            <a:off x="7123320" y="273420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Spielmechanik, Timer, Rätsel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6"/>
          <p:cNvSpPr/>
          <p:nvPr/>
        </p:nvSpPr>
        <p:spPr>
          <a:xfrm>
            <a:off x="567000" y="3474720"/>
            <a:ext cx="5412960" cy="1170000"/>
          </a:xfrm>
          <a:prstGeom prst="roundRect">
            <a:avLst>
              <a:gd name="adj" fmla="val 937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7"/>
          <p:cNvSpPr/>
          <p:nvPr/>
        </p:nvSpPr>
        <p:spPr>
          <a:xfrm>
            <a:off x="768240" y="3785760"/>
            <a:ext cx="447840" cy="447840"/>
          </a:xfrm>
          <a:prstGeom prst="ellipse">
            <a:avLst/>
          </a:prstGeom>
          <a:solidFill>
            <a:srgbClr val="FF699A"/>
          </a:solidFill>
          <a:ln w="12700">
            <a:solidFill>
              <a:srgbClr val="FF699A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8"/>
          <p:cNvSpPr/>
          <p:nvPr/>
        </p:nvSpPr>
        <p:spPr>
          <a:xfrm>
            <a:off x="1444680" y="3675960"/>
            <a:ext cx="4196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localStorage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9"/>
          <p:cNvSpPr/>
          <p:nvPr/>
        </p:nvSpPr>
        <p:spPr>
          <a:xfrm>
            <a:off x="1444680" y="413316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Spielstand und persönliche Rekorde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20"/>
          <p:cNvSpPr/>
          <p:nvPr/>
        </p:nvSpPr>
        <p:spPr>
          <a:xfrm>
            <a:off x="6245280" y="3474720"/>
            <a:ext cx="5412960" cy="1170000"/>
          </a:xfrm>
          <a:prstGeom prst="roundRect">
            <a:avLst>
              <a:gd name="adj" fmla="val 937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21"/>
          <p:cNvSpPr/>
          <p:nvPr/>
        </p:nvSpPr>
        <p:spPr>
          <a:xfrm>
            <a:off x="6446520" y="3785760"/>
            <a:ext cx="447840" cy="447840"/>
          </a:xfrm>
          <a:prstGeom prst="ellipse">
            <a:avLst/>
          </a:prstGeom>
          <a:solidFill>
            <a:srgbClr val="FFD578"/>
          </a:solidFill>
          <a:ln w="12700">
            <a:solidFill>
              <a:srgbClr val="FFD578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2"/>
          <p:cNvSpPr/>
          <p:nvPr/>
        </p:nvSpPr>
        <p:spPr>
          <a:xfrm>
            <a:off x="7123320" y="3675960"/>
            <a:ext cx="41968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Git &amp; GitHub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3"/>
          <p:cNvSpPr/>
          <p:nvPr/>
        </p:nvSpPr>
        <p:spPr>
          <a:xfrm>
            <a:off x="7123320" y="4133160"/>
            <a:ext cx="4205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Branches, Pull Requests, Review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4"/>
          <p:cNvSpPr/>
          <p:nvPr/>
        </p:nvSpPr>
        <p:spPr>
          <a:xfrm>
            <a:off x="567000" y="5074920"/>
            <a:ext cx="11100600" cy="978120"/>
          </a:xfrm>
          <a:prstGeom prst="roundRect">
            <a:avLst>
              <a:gd name="adj" fmla="val 11215"/>
            </a:avLst>
          </a:prstGeom>
          <a:solidFill>
            <a:srgbClr val="1B2742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5"/>
          <p:cNvSpPr/>
          <p:nvPr/>
        </p:nvSpPr>
        <p:spPr>
          <a:xfrm>
            <a:off x="813960" y="5340240"/>
            <a:ext cx="2477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WARUM REALISTISCH?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6"/>
          <p:cNvSpPr/>
          <p:nvPr/>
        </p:nvSpPr>
        <p:spPr>
          <a:xfrm>
            <a:off x="3273480" y="5221080"/>
            <a:ext cx="8083080" cy="520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Kein kompliziertes Backend für den MVP. Jede Woche gibt es eine testbare Version.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TEAM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Klare Rollen, alle entwickeln mit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Zusätzlich zu den Startup-Rollen übernimmt jede Person einen konkreten Teil der Programmierung.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07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8"/>
          <p:cNvSpPr/>
          <p:nvPr/>
        </p:nvSpPr>
        <p:spPr>
          <a:xfrm>
            <a:off x="567000" y="2075760"/>
            <a:ext cx="3565800" cy="3511080"/>
          </a:xfrm>
          <a:prstGeom prst="roundRect">
            <a:avLst>
              <a:gd name="adj" fmla="val 312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9"/>
          <p:cNvSpPr/>
          <p:nvPr/>
        </p:nvSpPr>
        <p:spPr>
          <a:xfrm>
            <a:off x="567000" y="2075760"/>
            <a:ext cx="3565800" cy="6840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0"/>
          <p:cNvSpPr/>
          <p:nvPr/>
        </p:nvSpPr>
        <p:spPr>
          <a:xfrm>
            <a:off x="795600" y="2414160"/>
            <a:ext cx="77688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896040" y="2423160"/>
            <a:ext cx="57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CEO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786240" y="287136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FARUK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795600" y="3465720"/>
            <a:ext cx="301716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Leitung &amp; User Experience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4"/>
          <p:cNvSpPr/>
          <p:nvPr/>
        </p:nvSpPr>
        <p:spPr>
          <a:xfrm>
            <a:off x="813960" y="421092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5"/>
          <p:cNvSpPr/>
          <p:nvPr/>
        </p:nvSpPr>
        <p:spPr>
          <a:xfrm>
            <a:off x="1042560" y="411480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Frontend und Spieloberfläche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6"/>
          <p:cNvSpPr/>
          <p:nvPr/>
        </p:nvSpPr>
        <p:spPr>
          <a:xfrm>
            <a:off x="813960" y="464076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7"/>
          <p:cNvSpPr/>
          <p:nvPr/>
        </p:nvSpPr>
        <p:spPr>
          <a:xfrm>
            <a:off x="1042560" y="454464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Pitch und Produktvision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8"/>
          <p:cNvSpPr/>
          <p:nvPr/>
        </p:nvSpPr>
        <p:spPr>
          <a:xfrm>
            <a:off x="813960" y="5070240"/>
            <a:ext cx="95760" cy="95760"/>
          </a:xfrm>
          <a:prstGeom prst="ellipse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9"/>
          <p:cNvSpPr/>
          <p:nvPr/>
        </p:nvSpPr>
        <p:spPr>
          <a:xfrm>
            <a:off x="1042560" y="497448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Aufgaben priorisieren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20"/>
          <p:cNvSpPr/>
          <p:nvPr/>
        </p:nvSpPr>
        <p:spPr>
          <a:xfrm>
            <a:off x="4370760" y="2075760"/>
            <a:ext cx="3565800" cy="3511080"/>
          </a:xfrm>
          <a:prstGeom prst="roundRect">
            <a:avLst>
              <a:gd name="adj" fmla="val 312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21"/>
          <p:cNvSpPr/>
          <p:nvPr/>
        </p:nvSpPr>
        <p:spPr>
          <a:xfrm>
            <a:off x="4370760" y="2075760"/>
            <a:ext cx="3565800" cy="6840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22"/>
          <p:cNvSpPr/>
          <p:nvPr/>
        </p:nvSpPr>
        <p:spPr>
          <a:xfrm>
            <a:off x="4599360" y="2414160"/>
            <a:ext cx="77688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3"/>
          <p:cNvSpPr/>
          <p:nvPr/>
        </p:nvSpPr>
        <p:spPr>
          <a:xfrm>
            <a:off x="4700160" y="2423160"/>
            <a:ext cx="57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CTO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4"/>
          <p:cNvSpPr/>
          <p:nvPr/>
        </p:nvSpPr>
        <p:spPr>
          <a:xfrm>
            <a:off x="4590360" y="287136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KAITO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5"/>
          <p:cNvSpPr/>
          <p:nvPr/>
        </p:nvSpPr>
        <p:spPr>
          <a:xfrm>
            <a:off x="4599360" y="3465720"/>
            <a:ext cx="301716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Technik &amp; Game-Logik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26"/>
          <p:cNvSpPr/>
          <p:nvPr/>
        </p:nvSpPr>
        <p:spPr>
          <a:xfrm>
            <a:off x="4617720" y="421092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7"/>
          <p:cNvSpPr/>
          <p:nvPr/>
        </p:nvSpPr>
        <p:spPr>
          <a:xfrm>
            <a:off x="4846320" y="411480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GitHub-Setup und Code-Reviews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28"/>
          <p:cNvSpPr/>
          <p:nvPr/>
        </p:nvSpPr>
        <p:spPr>
          <a:xfrm>
            <a:off x="4617720" y="464076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9"/>
          <p:cNvSpPr/>
          <p:nvPr/>
        </p:nvSpPr>
        <p:spPr>
          <a:xfrm>
            <a:off x="4846320" y="454464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Rätsel-Engine und Glitch-Modus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0"/>
          <p:cNvSpPr/>
          <p:nvPr/>
        </p:nvSpPr>
        <p:spPr>
          <a:xfrm>
            <a:off x="4617720" y="5070240"/>
            <a:ext cx="95760" cy="95760"/>
          </a:xfrm>
          <a:prstGeom prst="ellipse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31"/>
          <p:cNvSpPr/>
          <p:nvPr/>
        </p:nvSpPr>
        <p:spPr>
          <a:xfrm>
            <a:off x="4846320" y="497448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Qualität des Codes sichern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32"/>
          <p:cNvSpPr/>
          <p:nvPr/>
        </p:nvSpPr>
        <p:spPr>
          <a:xfrm>
            <a:off x="8174880" y="2075760"/>
            <a:ext cx="3565800" cy="3511080"/>
          </a:xfrm>
          <a:prstGeom prst="roundRect">
            <a:avLst>
              <a:gd name="adj" fmla="val 3125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33"/>
          <p:cNvSpPr/>
          <p:nvPr/>
        </p:nvSpPr>
        <p:spPr>
          <a:xfrm>
            <a:off x="8174880" y="2075760"/>
            <a:ext cx="3565800" cy="6840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3760" rIns="90000" bIns="237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34"/>
          <p:cNvSpPr/>
          <p:nvPr/>
        </p:nvSpPr>
        <p:spPr>
          <a:xfrm>
            <a:off x="8403480" y="2414160"/>
            <a:ext cx="776880" cy="301320"/>
          </a:xfrm>
          <a:prstGeom prst="roundRect">
            <a:avLst>
              <a:gd name="adj" fmla="val 36364"/>
            </a:avLst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5"/>
          <p:cNvSpPr/>
          <p:nvPr/>
        </p:nvSpPr>
        <p:spPr>
          <a:xfrm>
            <a:off x="8503920" y="2423160"/>
            <a:ext cx="575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COO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6"/>
          <p:cNvSpPr/>
          <p:nvPr/>
        </p:nvSpPr>
        <p:spPr>
          <a:xfrm>
            <a:off x="8394120" y="2871360"/>
            <a:ext cx="3017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LAURENTIU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37"/>
          <p:cNvSpPr/>
          <p:nvPr/>
        </p:nvSpPr>
        <p:spPr>
          <a:xfrm>
            <a:off x="8403480" y="3465720"/>
            <a:ext cx="3017160" cy="46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Zeitplan &amp; Spielinhalte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38"/>
          <p:cNvSpPr/>
          <p:nvPr/>
        </p:nvSpPr>
        <p:spPr>
          <a:xfrm>
            <a:off x="8421480" y="4210920"/>
            <a:ext cx="95760" cy="95760"/>
          </a:xfrm>
          <a:prstGeom prst="ellipse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9"/>
          <p:cNvSpPr/>
          <p:nvPr/>
        </p:nvSpPr>
        <p:spPr>
          <a:xfrm>
            <a:off x="8650080" y="411480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Sprints und Deadlines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0"/>
          <p:cNvSpPr/>
          <p:nvPr/>
        </p:nvSpPr>
        <p:spPr>
          <a:xfrm>
            <a:off x="8421480" y="4640760"/>
            <a:ext cx="95760" cy="95760"/>
          </a:xfrm>
          <a:prstGeom prst="ellipse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1"/>
          <p:cNvSpPr/>
          <p:nvPr/>
        </p:nvSpPr>
        <p:spPr>
          <a:xfrm>
            <a:off x="8650080" y="454464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Rätsel</a:t>
            </a:r>
            <a:r>
              <a:rPr lang="en-US" sz="125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-Design und Tests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2"/>
          <p:cNvSpPr/>
          <p:nvPr/>
        </p:nvSpPr>
        <p:spPr>
          <a:xfrm>
            <a:off x="8421480" y="5070240"/>
            <a:ext cx="95760" cy="95760"/>
          </a:xfrm>
          <a:prstGeom prst="ellipse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2680" rIns="90000" bIns="226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43"/>
          <p:cNvSpPr/>
          <p:nvPr/>
        </p:nvSpPr>
        <p:spPr>
          <a:xfrm>
            <a:off x="8650080" y="4974480"/>
            <a:ext cx="2834280" cy="42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 dirty="0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Bugs </a:t>
            </a:r>
            <a:r>
              <a:rPr lang="en-US" sz="1250" b="0" u="none" strike="noStrike" dirty="0" err="1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dokumentieren</a:t>
            </a:r>
            <a:endParaRPr lang="en-US" sz="12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44"/>
          <p:cNvSpPr/>
          <p:nvPr/>
        </p:nvSpPr>
        <p:spPr>
          <a:xfrm>
            <a:off x="567000" y="5760720"/>
            <a:ext cx="11201040" cy="411120"/>
          </a:xfrm>
          <a:prstGeom prst="roundRect">
            <a:avLst>
              <a:gd name="adj" fmla="val 26667"/>
            </a:avLst>
          </a:prstGeom>
          <a:solidFill>
            <a:srgbClr val="111A2E"/>
          </a:solidFill>
          <a:ln w="12700">
            <a:solidFill>
              <a:srgbClr val="111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5"/>
          <p:cNvSpPr/>
          <p:nvPr/>
        </p:nvSpPr>
        <p:spPr>
          <a:xfrm>
            <a:off x="804600" y="580644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Arbeitsweise: Issues → eigener Branch → Pull Request → Review → Merge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NÄCHSTE SITZUNG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4 konkrete Arbeitspakete pro Person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 1 startet heute. Die weiteren APs sind die nächsten klar definierten Aufgaben.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08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8"/>
          <p:cNvSpPr/>
          <p:nvPr/>
        </p:nvSpPr>
        <p:spPr>
          <a:xfrm>
            <a:off x="567000" y="2030040"/>
            <a:ext cx="3574800" cy="3885840"/>
          </a:xfrm>
          <a:prstGeom prst="roundRect">
            <a:avLst>
              <a:gd name="adj" fmla="val 306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9"/>
          <p:cNvSpPr/>
          <p:nvPr/>
        </p:nvSpPr>
        <p:spPr>
          <a:xfrm>
            <a:off x="786240" y="2331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FARUK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10"/>
          <p:cNvSpPr/>
          <p:nvPr/>
        </p:nvSpPr>
        <p:spPr>
          <a:xfrm>
            <a:off x="786240" y="2797920"/>
            <a:ext cx="31543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CEO / Frontend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11"/>
          <p:cNvSpPr/>
          <p:nvPr/>
        </p:nvSpPr>
        <p:spPr>
          <a:xfrm>
            <a:off x="713160" y="3255120"/>
            <a:ext cx="3273120" cy="502560"/>
          </a:xfrm>
          <a:prstGeom prst="roundRect">
            <a:avLst>
              <a:gd name="adj" fmla="val 21818"/>
            </a:avLst>
          </a:prstGeom>
          <a:solidFill>
            <a:srgbClr val="1B2742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2"/>
          <p:cNvSpPr/>
          <p:nvPr/>
        </p:nvSpPr>
        <p:spPr>
          <a:xfrm>
            <a:off x="813960" y="336492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AP1: Startseite als HTML/CSS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3"/>
          <p:cNvSpPr/>
          <p:nvPr/>
        </p:nvSpPr>
        <p:spPr>
          <a:xfrm>
            <a:off x="813960" y="392292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AP2: Spielfeld und HUD gestalten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4"/>
          <p:cNvSpPr/>
          <p:nvPr/>
        </p:nvSpPr>
        <p:spPr>
          <a:xfrm>
            <a:off x="813960" y="448056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AP3: Buttons &amp; Raumnavigation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5"/>
          <p:cNvSpPr/>
          <p:nvPr/>
        </p:nvSpPr>
        <p:spPr>
          <a:xfrm>
            <a:off x="813960" y="503820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AP4: Mobile Ansicht &amp; Styling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6"/>
          <p:cNvSpPr/>
          <p:nvPr/>
        </p:nvSpPr>
        <p:spPr>
          <a:xfrm>
            <a:off x="4370760" y="2030040"/>
            <a:ext cx="3574800" cy="3885840"/>
          </a:xfrm>
          <a:prstGeom prst="roundRect">
            <a:avLst>
              <a:gd name="adj" fmla="val 306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7"/>
          <p:cNvSpPr/>
          <p:nvPr/>
        </p:nvSpPr>
        <p:spPr>
          <a:xfrm>
            <a:off x="4590360" y="2331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KAITO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8"/>
          <p:cNvSpPr/>
          <p:nvPr/>
        </p:nvSpPr>
        <p:spPr>
          <a:xfrm>
            <a:off x="4590360" y="2797920"/>
            <a:ext cx="31543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CTO / Logik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9"/>
          <p:cNvSpPr/>
          <p:nvPr/>
        </p:nvSpPr>
        <p:spPr>
          <a:xfrm>
            <a:off x="4517280" y="3255120"/>
            <a:ext cx="3273120" cy="502560"/>
          </a:xfrm>
          <a:prstGeom prst="roundRect">
            <a:avLst>
              <a:gd name="adj" fmla="val 21818"/>
            </a:avLst>
          </a:prstGeom>
          <a:solidFill>
            <a:srgbClr val="1B2742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20"/>
          <p:cNvSpPr/>
          <p:nvPr/>
        </p:nvSpPr>
        <p:spPr>
          <a:xfrm>
            <a:off x="4617720" y="336492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AP1: GitHub-Repo und Branches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1"/>
          <p:cNvSpPr/>
          <p:nvPr/>
        </p:nvSpPr>
        <p:spPr>
          <a:xfrm>
            <a:off x="4617720" y="392292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AP2: Rätsel-Engine mit JS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2"/>
          <p:cNvSpPr/>
          <p:nvPr/>
        </p:nvSpPr>
        <p:spPr>
          <a:xfrm>
            <a:off x="4617720" y="448056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AP3: Glitch-Modus programmieren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3"/>
          <p:cNvSpPr/>
          <p:nvPr/>
        </p:nvSpPr>
        <p:spPr>
          <a:xfrm>
            <a:off x="4617720" y="503820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AP4: Timer und Spielstatus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24"/>
          <p:cNvSpPr/>
          <p:nvPr/>
        </p:nvSpPr>
        <p:spPr>
          <a:xfrm>
            <a:off x="8174880" y="2030040"/>
            <a:ext cx="3574800" cy="3885840"/>
          </a:xfrm>
          <a:prstGeom prst="roundRect">
            <a:avLst>
              <a:gd name="adj" fmla="val 306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5"/>
          <p:cNvSpPr/>
          <p:nvPr/>
        </p:nvSpPr>
        <p:spPr>
          <a:xfrm>
            <a:off x="8394120" y="2331720"/>
            <a:ext cx="31543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LAURENTIU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6"/>
          <p:cNvSpPr/>
          <p:nvPr/>
        </p:nvSpPr>
        <p:spPr>
          <a:xfrm>
            <a:off x="8394120" y="2797920"/>
            <a:ext cx="3154320" cy="26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COO / Inhalte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27"/>
          <p:cNvSpPr/>
          <p:nvPr/>
        </p:nvSpPr>
        <p:spPr>
          <a:xfrm>
            <a:off x="8321040" y="3255120"/>
            <a:ext cx="3273120" cy="502560"/>
          </a:xfrm>
          <a:prstGeom prst="roundRect">
            <a:avLst>
              <a:gd name="adj" fmla="val 21818"/>
            </a:avLst>
          </a:prstGeom>
          <a:solidFill>
            <a:srgbClr val="1B2742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8"/>
          <p:cNvSpPr/>
          <p:nvPr/>
        </p:nvSpPr>
        <p:spPr>
          <a:xfrm>
            <a:off x="8421480" y="336492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AP1: 3 Rätsel mit Lösungen planen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9"/>
          <p:cNvSpPr/>
          <p:nvPr/>
        </p:nvSpPr>
        <p:spPr>
          <a:xfrm>
            <a:off x="8421480" y="392292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AP2: Rätsel-Daten anlegen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30"/>
          <p:cNvSpPr/>
          <p:nvPr/>
        </p:nvSpPr>
        <p:spPr>
          <a:xfrm>
            <a:off x="8421480" y="448056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AP3: Hinweise &amp; Gewinnscreen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31"/>
          <p:cNvSpPr/>
          <p:nvPr/>
        </p:nvSpPr>
        <p:spPr>
          <a:xfrm>
            <a:off x="8421480" y="5038200"/>
            <a:ext cx="29898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4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AP4: Testfälle und Bugliste</a:t>
            </a:r>
            <a:endParaRPr lang="en-US" sz="13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GANTT-CHART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Wer arbeitet wann? – 10-Wochen-Plan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Meilenstein: Nach der vierten Woche ist das erste Level als MVP spielbar.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09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511920" y="2075760"/>
            <a:ext cx="11109600" cy="456840"/>
          </a:xfrm>
          <a:prstGeom prst="rect">
            <a:avLst/>
          </a:prstGeom>
          <a:solidFill>
            <a:srgbClr val="1B2742"/>
          </a:solidFill>
          <a:ln w="12700">
            <a:solidFill>
              <a:srgbClr val="1B274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9"/>
          <p:cNvSpPr/>
          <p:nvPr/>
        </p:nvSpPr>
        <p:spPr>
          <a:xfrm>
            <a:off x="640080" y="21672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AUFGABE / VERANTWORTUNG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355716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1"/>
          <p:cNvSpPr/>
          <p:nvPr/>
        </p:nvSpPr>
        <p:spPr>
          <a:xfrm>
            <a:off x="428868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2"/>
          <p:cNvSpPr/>
          <p:nvPr/>
        </p:nvSpPr>
        <p:spPr>
          <a:xfrm>
            <a:off x="502020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3"/>
          <p:cNvSpPr/>
          <p:nvPr/>
        </p:nvSpPr>
        <p:spPr>
          <a:xfrm>
            <a:off x="575172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W4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4"/>
          <p:cNvSpPr/>
          <p:nvPr/>
        </p:nvSpPr>
        <p:spPr>
          <a:xfrm>
            <a:off x="648324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15"/>
          <p:cNvSpPr/>
          <p:nvPr/>
        </p:nvSpPr>
        <p:spPr>
          <a:xfrm>
            <a:off x="721476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16"/>
          <p:cNvSpPr/>
          <p:nvPr/>
        </p:nvSpPr>
        <p:spPr>
          <a:xfrm>
            <a:off x="794628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7"/>
          <p:cNvSpPr/>
          <p:nvPr/>
        </p:nvSpPr>
        <p:spPr>
          <a:xfrm>
            <a:off x="867780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8"/>
          <p:cNvSpPr/>
          <p:nvPr/>
        </p:nvSpPr>
        <p:spPr>
          <a:xfrm>
            <a:off x="940932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9"/>
          <p:cNvSpPr/>
          <p:nvPr/>
        </p:nvSpPr>
        <p:spPr>
          <a:xfrm>
            <a:off x="10140840" y="2194560"/>
            <a:ext cx="73116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20"/>
          <p:cNvSpPr/>
          <p:nvPr/>
        </p:nvSpPr>
        <p:spPr>
          <a:xfrm>
            <a:off x="511920" y="2578680"/>
            <a:ext cx="10378080" cy="32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21"/>
          <p:cNvSpPr/>
          <p:nvPr/>
        </p:nvSpPr>
        <p:spPr>
          <a:xfrm>
            <a:off x="631080" y="264708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Konzept &amp; Design  / Faruk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22"/>
          <p:cNvSpPr/>
          <p:nvPr/>
        </p:nvSpPr>
        <p:spPr>
          <a:xfrm>
            <a:off x="355680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23"/>
          <p:cNvSpPr/>
          <p:nvPr/>
        </p:nvSpPr>
        <p:spPr>
          <a:xfrm>
            <a:off x="3611880" y="262908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24"/>
          <p:cNvSpPr/>
          <p:nvPr/>
        </p:nvSpPr>
        <p:spPr>
          <a:xfrm>
            <a:off x="428832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25"/>
          <p:cNvSpPr/>
          <p:nvPr/>
        </p:nvSpPr>
        <p:spPr>
          <a:xfrm>
            <a:off x="4343400" y="262908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501984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7"/>
          <p:cNvSpPr/>
          <p:nvPr/>
        </p:nvSpPr>
        <p:spPr>
          <a:xfrm>
            <a:off x="575136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28"/>
          <p:cNvSpPr/>
          <p:nvPr/>
        </p:nvSpPr>
        <p:spPr>
          <a:xfrm>
            <a:off x="648288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9"/>
          <p:cNvSpPr/>
          <p:nvPr/>
        </p:nvSpPr>
        <p:spPr>
          <a:xfrm>
            <a:off x="721440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30"/>
          <p:cNvSpPr/>
          <p:nvPr/>
        </p:nvSpPr>
        <p:spPr>
          <a:xfrm>
            <a:off x="794592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1"/>
          <p:cNvSpPr/>
          <p:nvPr/>
        </p:nvSpPr>
        <p:spPr>
          <a:xfrm>
            <a:off x="867744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32"/>
          <p:cNvSpPr/>
          <p:nvPr/>
        </p:nvSpPr>
        <p:spPr>
          <a:xfrm>
            <a:off x="940896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3"/>
          <p:cNvSpPr/>
          <p:nvPr/>
        </p:nvSpPr>
        <p:spPr>
          <a:xfrm>
            <a:off x="10140480" y="257832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34"/>
          <p:cNvSpPr/>
          <p:nvPr/>
        </p:nvSpPr>
        <p:spPr>
          <a:xfrm>
            <a:off x="631080" y="297648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Technik &amp; Git  / Kaito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35"/>
          <p:cNvSpPr/>
          <p:nvPr/>
        </p:nvSpPr>
        <p:spPr>
          <a:xfrm>
            <a:off x="355680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36"/>
          <p:cNvSpPr/>
          <p:nvPr/>
        </p:nvSpPr>
        <p:spPr>
          <a:xfrm>
            <a:off x="3611880" y="295812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37"/>
          <p:cNvSpPr/>
          <p:nvPr/>
        </p:nvSpPr>
        <p:spPr>
          <a:xfrm>
            <a:off x="428832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8"/>
          <p:cNvSpPr/>
          <p:nvPr/>
        </p:nvSpPr>
        <p:spPr>
          <a:xfrm>
            <a:off x="4343400" y="295812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39"/>
          <p:cNvSpPr/>
          <p:nvPr/>
        </p:nvSpPr>
        <p:spPr>
          <a:xfrm>
            <a:off x="501984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0"/>
          <p:cNvSpPr/>
          <p:nvPr/>
        </p:nvSpPr>
        <p:spPr>
          <a:xfrm>
            <a:off x="575136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41"/>
          <p:cNvSpPr/>
          <p:nvPr/>
        </p:nvSpPr>
        <p:spPr>
          <a:xfrm>
            <a:off x="648288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42"/>
          <p:cNvSpPr/>
          <p:nvPr/>
        </p:nvSpPr>
        <p:spPr>
          <a:xfrm>
            <a:off x="721440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43"/>
          <p:cNvSpPr/>
          <p:nvPr/>
        </p:nvSpPr>
        <p:spPr>
          <a:xfrm>
            <a:off x="794592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44"/>
          <p:cNvSpPr/>
          <p:nvPr/>
        </p:nvSpPr>
        <p:spPr>
          <a:xfrm>
            <a:off x="867744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45"/>
          <p:cNvSpPr/>
          <p:nvPr/>
        </p:nvSpPr>
        <p:spPr>
          <a:xfrm>
            <a:off x="940896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46"/>
          <p:cNvSpPr/>
          <p:nvPr/>
        </p:nvSpPr>
        <p:spPr>
          <a:xfrm>
            <a:off x="10140480" y="29077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7"/>
          <p:cNvSpPr/>
          <p:nvPr/>
        </p:nvSpPr>
        <p:spPr>
          <a:xfrm>
            <a:off x="511920" y="3237120"/>
            <a:ext cx="10378080" cy="32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8"/>
          <p:cNvSpPr/>
          <p:nvPr/>
        </p:nvSpPr>
        <p:spPr>
          <a:xfrm>
            <a:off x="631080" y="330552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Rätsel 1–3  / Laurentiu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49"/>
          <p:cNvSpPr/>
          <p:nvPr/>
        </p:nvSpPr>
        <p:spPr>
          <a:xfrm>
            <a:off x="355680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50"/>
          <p:cNvSpPr/>
          <p:nvPr/>
        </p:nvSpPr>
        <p:spPr>
          <a:xfrm>
            <a:off x="3611880" y="3287160"/>
            <a:ext cx="630720" cy="22356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51"/>
          <p:cNvSpPr/>
          <p:nvPr/>
        </p:nvSpPr>
        <p:spPr>
          <a:xfrm>
            <a:off x="428832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52"/>
          <p:cNvSpPr/>
          <p:nvPr/>
        </p:nvSpPr>
        <p:spPr>
          <a:xfrm>
            <a:off x="4343400" y="3287160"/>
            <a:ext cx="630720" cy="22356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53"/>
          <p:cNvSpPr/>
          <p:nvPr/>
        </p:nvSpPr>
        <p:spPr>
          <a:xfrm>
            <a:off x="501984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54"/>
          <p:cNvSpPr/>
          <p:nvPr/>
        </p:nvSpPr>
        <p:spPr>
          <a:xfrm>
            <a:off x="5074920" y="3287160"/>
            <a:ext cx="630720" cy="22356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55"/>
          <p:cNvSpPr/>
          <p:nvPr/>
        </p:nvSpPr>
        <p:spPr>
          <a:xfrm>
            <a:off x="575136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56"/>
          <p:cNvSpPr/>
          <p:nvPr/>
        </p:nvSpPr>
        <p:spPr>
          <a:xfrm>
            <a:off x="648288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57"/>
          <p:cNvSpPr/>
          <p:nvPr/>
        </p:nvSpPr>
        <p:spPr>
          <a:xfrm>
            <a:off x="721440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58"/>
          <p:cNvSpPr/>
          <p:nvPr/>
        </p:nvSpPr>
        <p:spPr>
          <a:xfrm>
            <a:off x="794592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59"/>
          <p:cNvSpPr/>
          <p:nvPr/>
        </p:nvSpPr>
        <p:spPr>
          <a:xfrm>
            <a:off x="867744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60"/>
          <p:cNvSpPr/>
          <p:nvPr/>
        </p:nvSpPr>
        <p:spPr>
          <a:xfrm>
            <a:off x="940896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61"/>
          <p:cNvSpPr/>
          <p:nvPr/>
        </p:nvSpPr>
        <p:spPr>
          <a:xfrm>
            <a:off x="10140480" y="323676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62"/>
          <p:cNvSpPr/>
          <p:nvPr/>
        </p:nvSpPr>
        <p:spPr>
          <a:xfrm>
            <a:off x="631080" y="363492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Gameplay &amp; Glitch  / Kaito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63"/>
          <p:cNvSpPr/>
          <p:nvPr/>
        </p:nvSpPr>
        <p:spPr>
          <a:xfrm>
            <a:off x="355680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64"/>
          <p:cNvSpPr/>
          <p:nvPr/>
        </p:nvSpPr>
        <p:spPr>
          <a:xfrm>
            <a:off x="428832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65"/>
          <p:cNvSpPr/>
          <p:nvPr/>
        </p:nvSpPr>
        <p:spPr>
          <a:xfrm>
            <a:off x="4343400" y="361656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66"/>
          <p:cNvSpPr/>
          <p:nvPr/>
        </p:nvSpPr>
        <p:spPr>
          <a:xfrm>
            <a:off x="501984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67"/>
          <p:cNvSpPr/>
          <p:nvPr/>
        </p:nvSpPr>
        <p:spPr>
          <a:xfrm>
            <a:off x="5074920" y="361656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68"/>
          <p:cNvSpPr/>
          <p:nvPr/>
        </p:nvSpPr>
        <p:spPr>
          <a:xfrm>
            <a:off x="575136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69"/>
          <p:cNvSpPr/>
          <p:nvPr/>
        </p:nvSpPr>
        <p:spPr>
          <a:xfrm>
            <a:off x="5806440" y="361656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70"/>
          <p:cNvSpPr/>
          <p:nvPr/>
        </p:nvSpPr>
        <p:spPr>
          <a:xfrm>
            <a:off x="648288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71"/>
          <p:cNvSpPr/>
          <p:nvPr/>
        </p:nvSpPr>
        <p:spPr>
          <a:xfrm>
            <a:off x="721440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72"/>
          <p:cNvSpPr/>
          <p:nvPr/>
        </p:nvSpPr>
        <p:spPr>
          <a:xfrm>
            <a:off x="794592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73"/>
          <p:cNvSpPr/>
          <p:nvPr/>
        </p:nvSpPr>
        <p:spPr>
          <a:xfrm>
            <a:off x="867744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74"/>
          <p:cNvSpPr/>
          <p:nvPr/>
        </p:nvSpPr>
        <p:spPr>
          <a:xfrm>
            <a:off x="940896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75"/>
          <p:cNvSpPr/>
          <p:nvPr/>
        </p:nvSpPr>
        <p:spPr>
          <a:xfrm>
            <a:off x="10140480" y="356616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76"/>
          <p:cNvSpPr/>
          <p:nvPr/>
        </p:nvSpPr>
        <p:spPr>
          <a:xfrm>
            <a:off x="511920" y="3895200"/>
            <a:ext cx="10378080" cy="32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77"/>
          <p:cNvSpPr/>
          <p:nvPr/>
        </p:nvSpPr>
        <p:spPr>
          <a:xfrm>
            <a:off x="631080" y="396396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UI &amp; Raum  / Faruk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78"/>
          <p:cNvSpPr/>
          <p:nvPr/>
        </p:nvSpPr>
        <p:spPr>
          <a:xfrm>
            <a:off x="355680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79"/>
          <p:cNvSpPr/>
          <p:nvPr/>
        </p:nvSpPr>
        <p:spPr>
          <a:xfrm>
            <a:off x="428832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80"/>
          <p:cNvSpPr/>
          <p:nvPr/>
        </p:nvSpPr>
        <p:spPr>
          <a:xfrm>
            <a:off x="4343400" y="394560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81"/>
          <p:cNvSpPr/>
          <p:nvPr/>
        </p:nvSpPr>
        <p:spPr>
          <a:xfrm>
            <a:off x="501984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82"/>
          <p:cNvSpPr/>
          <p:nvPr/>
        </p:nvSpPr>
        <p:spPr>
          <a:xfrm>
            <a:off x="5074920" y="394560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83"/>
          <p:cNvSpPr/>
          <p:nvPr/>
        </p:nvSpPr>
        <p:spPr>
          <a:xfrm>
            <a:off x="575136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84"/>
          <p:cNvSpPr/>
          <p:nvPr/>
        </p:nvSpPr>
        <p:spPr>
          <a:xfrm>
            <a:off x="5806440" y="394560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85"/>
          <p:cNvSpPr/>
          <p:nvPr/>
        </p:nvSpPr>
        <p:spPr>
          <a:xfrm>
            <a:off x="648288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86"/>
          <p:cNvSpPr/>
          <p:nvPr/>
        </p:nvSpPr>
        <p:spPr>
          <a:xfrm>
            <a:off x="721440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87"/>
          <p:cNvSpPr/>
          <p:nvPr/>
        </p:nvSpPr>
        <p:spPr>
          <a:xfrm>
            <a:off x="794592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88"/>
          <p:cNvSpPr/>
          <p:nvPr/>
        </p:nvSpPr>
        <p:spPr>
          <a:xfrm>
            <a:off x="867744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89"/>
          <p:cNvSpPr/>
          <p:nvPr/>
        </p:nvSpPr>
        <p:spPr>
          <a:xfrm>
            <a:off x="940896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90"/>
          <p:cNvSpPr/>
          <p:nvPr/>
        </p:nvSpPr>
        <p:spPr>
          <a:xfrm>
            <a:off x="10140480" y="389520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1"/>
          <p:cNvSpPr/>
          <p:nvPr/>
        </p:nvSpPr>
        <p:spPr>
          <a:xfrm>
            <a:off x="631080" y="429300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Testen &amp; MVP-Demo  / Alle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92"/>
          <p:cNvSpPr/>
          <p:nvPr/>
        </p:nvSpPr>
        <p:spPr>
          <a:xfrm>
            <a:off x="355680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93"/>
          <p:cNvSpPr/>
          <p:nvPr/>
        </p:nvSpPr>
        <p:spPr>
          <a:xfrm>
            <a:off x="428832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94"/>
          <p:cNvSpPr/>
          <p:nvPr/>
        </p:nvSpPr>
        <p:spPr>
          <a:xfrm>
            <a:off x="501984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95"/>
          <p:cNvSpPr/>
          <p:nvPr/>
        </p:nvSpPr>
        <p:spPr>
          <a:xfrm>
            <a:off x="575136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96"/>
          <p:cNvSpPr/>
          <p:nvPr/>
        </p:nvSpPr>
        <p:spPr>
          <a:xfrm>
            <a:off x="5806440" y="4275000"/>
            <a:ext cx="630720" cy="223560"/>
          </a:xfrm>
          <a:prstGeom prst="rect">
            <a:avLst/>
          </a:prstGeom>
          <a:solidFill>
            <a:srgbClr val="FFD578"/>
          </a:solidFill>
          <a:ln w="12700">
            <a:solidFill>
              <a:srgbClr val="FFD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97"/>
          <p:cNvSpPr/>
          <p:nvPr/>
        </p:nvSpPr>
        <p:spPr>
          <a:xfrm>
            <a:off x="648288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98"/>
          <p:cNvSpPr/>
          <p:nvPr/>
        </p:nvSpPr>
        <p:spPr>
          <a:xfrm>
            <a:off x="721440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99"/>
          <p:cNvSpPr/>
          <p:nvPr/>
        </p:nvSpPr>
        <p:spPr>
          <a:xfrm>
            <a:off x="794592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00"/>
          <p:cNvSpPr/>
          <p:nvPr/>
        </p:nvSpPr>
        <p:spPr>
          <a:xfrm>
            <a:off x="867744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01"/>
          <p:cNvSpPr/>
          <p:nvPr/>
        </p:nvSpPr>
        <p:spPr>
          <a:xfrm>
            <a:off x="940896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02"/>
          <p:cNvSpPr/>
          <p:nvPr/>
        </p:nvSpPr>
        <p:spPr>
          <a:xfrm>
            <a:off x="10140480" y="422424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103"/>
          <p:cNvSpPr/>
          <p:nvPr/>
        </p:nvSpPr>
        <p:spPr>
          <a:xfrm>
            <a:off x="511920" y="4553640"/>
            <a:ext cx="10378080" cy="32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04"/>
          <p:cNvSpPr/>
          <p:nvPr/>
        </p:nvSpPr>
        <p:spPr>
          <a:xfrm>
            <a:off x="631080" y="462240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Räume 2–5  / Alle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05"/>
          <p:cNvSpPr/>
          <p:nvPr/>
        </p:nvSpPr>
        <p:spPr>
          <a:xfrm>
            <a:off x="355680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06"/>
          <p:cNvSpPr/>
          <p:nvPr/>
        </p:nvSpPr>
        <p:spPr>
          <a:xfrm>
            <a:off x="428832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07"/>
          <p:cNvSpPr/>
          <p:nvPr/>
        </p:nvSpPr>
        <p:spPr>
          <a:xfrm>
            <a:off x="501984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108"/>
          <p:cNvSpPr/>
          <p:nvPr/>
        </p:nvSpPr>
        <p:spPr>
          <a:xfrm>
            <a:off x="575136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09"/>
          <p:cNvSpPr/>
          <p:nvPr/>
        </p:nvSpPr>
        <p:spPr>
          <a:xfrm>
            <a:off x="648288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10"/>
          <p:cNvSpPr/>
          <p:nvPr/>
        </p:nvSpPr>
        <p:spPr>
          <a:xfrm>
            <a:off x="6537960" y="460404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11"/>
          <p:cNvSpPr/>
          <p:nvPr/>
        </p:nvSpPr>
        <p:spPr>
          <a:xfrm>
            <a:off x="721440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Shape 112"/>
          <p:cNvSpPr/>
          <p:nvPr/>
        </p:nvSpPr>
        <p:spPr>
          <a:xfrm>
            <a:off x="7269480" y="460404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13"/>
          <p:cNvSpPr/>
          <p:nvPr/>
        </p:nvSpPr>
        <p:spPr>
          <a:xfrm>
            <a:off x="794592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14"/>
          <p:cNvSpPr/>
          <p:nvPr/>
        </p:nvSpPr>
        <p:spPr>
          <a:xfrm>
            <a:off x="8001000" y="460404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115"/>
          <p:cNvSpPr/>
          <p:nvPr/>
        </p:nvSpPr>
        <p:spPr>
          <a:xfrm>
            <a:off x="867744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Shape 116"/>
          <p:cNvSpPr/>
          <p:nvPr/>
        </p:nvSpPr>
        <p:spPr>
          <a:xfrm>
            <a:off x="8732520" y="4604040"/>
            <a:ext cx="630720" cy="22356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117"/>
          <p:cNvSpPr/>
          <p:nvPr/>
        </p:nvSpPr>
        <p:spPr>
          <a:xfrm>
            <a:off x="940896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118"/>
          <p:cNvSpPr/>
          <p:nvPr/>
        </p:nvSpPr>
        <p:spPr>
          <a:xfrm>
            <a:off x="10140480" y="455364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119"/>
          <p:cNvSpPr/>
          <p:nvPr/>
        </p:nvSpPr>
        <p:spPr>
          <a:xfrm>
            <a:off x="631080" y="495144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Inventar &amp; Spielstand  / Kaito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20"/>
          <p:cNvSpPr/>
          <p:nvPr/>
        </p:nvSpPr>
        <p:spPr>
          <a:xfrm>
            <a:off x="355680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21"/>
          <p:cNvSpPr/>
          <p:nvPr/>
        </p:nvSpPr>
        <p:spPr>
          <a:xfrm>
            <a:off x="428832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122"/>
          <p:cNvSpPr/>
          <p:nvPr/>
        </p:nvSpPr>
        <p:spPr>
          <a:xfrm>
            <a:off x="501984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23"/>
          <p:cNvSpPr/>
          <p:nvPr/>
        </p:nvSpPr>
        <p:spPr>
          <a:xfrm>
            <a:off x="575136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24"/>
          <p:cNvSpPr/>
          <p:nvPr/>
        </p:nvSpPr>
        <p:spPr>
          <a:xfrm>
            <a:off x="648288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25"/>
          <p:cNvSpPr/>
          <p:nvPr/>
        </p:nvSpPr>
        <p:spPr>
          <a:xfrm>
            <a:off x="721440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126"/>
          <p:cNvSpPr/>
          <p:nvPr/>
        </p:nvSpPr>
        <p:spPr>
          <a:xfrm>
            <a:off x="7269480" y="493308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27"/>
          <p:cNvSpPr/>
          <p:nvPr/>
        </p:nvSpPr>
        <p:spPr>
          <a:xfrm>
            <a:off x="794592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28"/>
          <p:cNvSpPr/>
          <p:nvPr/>
        </p:nvSpPr>
        <p:spPr>
          <a:xfrm>
            <a:off x="8001000" y="493308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29"/>
          <p:cNvSpPr/>
          <p:nvPr/>
        </p:nvSpPr>
        <p:spPr>
          <a:xfrm>
            <a:off x="867744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Shape 130"/>
          <p:cNvSpPr/>
          <p:nvPr/>
        </p:nvSpPr>
        <p:spPr>
          <a:xfrm>
            <a:off x="8732520" y="4933080"/>
            <a:ext cx="630720" cy="223560"/>
          </a:xfrm>
          <a:prstGeom prst="rect">
            <a:avLst/>
          </a:prstGeom>
          <a:solidFill>
            <a:srgbClr val="9B83FF"/>
          </a:solidFill>
          <a:ln w="12700">
            <a:solidFill>
              <a:srgbClr val="9B83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31"/>
          <p:cNvSpPr/>
          <p:nvPr/>
        </p:nvSpPr>
        <p:spPr>
          <a:xfrm>
            <a:off x="940896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32"/>
          <p:cNvSpPr/>
          <p:nvPr/>
        </p:nvSpPr>
        <p:spPr>
          <a:xfrm>
            <a:off x="10140480" y="4882680"/>
            <a:ext cx="360" cy="32940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33"/>
          <p:cNvSpPr/>
          <p:nvPr/>
        </p:nvSpPr>
        <p:spPr>
          <a:xfrm>
            <a:off x="511920" y="5212080"/>
            <a:ext cx="10378080" cy="328680"/>
          </a:xfrm>
          <a:prstGeom prst="rect">
            <a:avLst/>
          </a:prstGeom>
          <a:solidFill>
            <a:srgbClr val="111A2E"/>
          </a:solidFill>
          <a:ln w="12700">
            <a:solidFill>
              <a:srgbClr val="111A2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34"/>
          <p:cNvSpPr/>
          <p:nvPr/>
        </p:nvSpPr>
        <p:spPr>
          <a:xfrm>
            <a:off x="631080" y="528084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Balancing / Tests  / Laurentiu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135"/>
          <p:cNvSpPr/>
          <p:nvPr/>
        </p:nvSpPr>
        <p:spPr>
          <a:xfrm>
            <a:off x="355680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136"/>
          <p:cNvSpPr/>
          <p:nvPr/>
        </p:nvSpPr>
        <p:spPr>
          <a:xfrm>
            <a:off x="428832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37"/>
          <p:cNvSpPr/>
          <p:nvPr/>
        </p:nvSpPr>
        <p:spPr>
          <a:xfrm>
            <a:off x="501984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38"/>
          <p:cNvSpPr/>
          <p:nvPr/>
        </p:nvSpPr>
        <p:spPr>
          <a:xfrm>
            <a:off x="575136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139"/>
          <p:cNvSpPr/>
          <p:nvPr/>
        </p:nvSpPr>
        <p:spPr>
          <a:xfrm>
            <a:off x="648288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140"/>
          <p:cNvSpPr/>
          <p:nvPr/>
        </p:nvSpPr>
        <p:spPr>
          <a:xfrm>
            <a:off x="721440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41"/>
          <p:cNvSpPr/>
          <p:nvPr/>
        </p:nvSpPr>
        <p:spPr>
          <a:xfrm>
            <a:off x="794592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42"/>
          <p:cNvSpPr/>
          <p:nvPr/>
        </p:nvSpPr>
        <p:spPr>
          <a:xfrm>
            <a:off x="867744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43"/>
          <p:cNvSpPr/>
          <p:nvPr/>
        </p:nvSpPr>
        <p:spPr>
          <a:xfrm>
            <a:off x="8732520" y="5262480"/>
            <a:ext cx="630720" cy="22356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44"/>
          <p:cNvSpPr/>
          <p:nvPr/>
        </p:nvSpPr>
        <p:spPr>
          <a:xfrm>
            <a:off x="940896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45"/>
          <p:cNvSpPr/>
          <p:nvPr/>
        </p:nvSpPr>
        <p:spPr>
          <a:xfrm>
            <a:off x="9464040" y="5262480"/>
            <a:ext cx="630720" cy="22356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46"/>
          <p:cNvSpPr/>
          <p:nvPr/>
        </p:nvSpPr>
        <p:spPr>
          <a:xfrm>
            <a:off x="10140480" y="521208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47"/>
          <p:cNvSpPr/>
          <p:nvPr/>
        </p:nvSpPr>
        <p:spPr>
          <a:xfrm>
            <a:off x="10195560" y="5262480"/>
            <a:ext cx="630720" cy="223560"/>
          </a:xfrm>
          <a:prstGeom prst="rect">
            <a:avLst/>
          </a:prstGeom>
          <a:solidFill>
            <a:srgbClr val="FF699A"/>
          </a:solidFill>
          <a:ln w="12700">
            <a:solidFill>
              <a:srgbClr val="FF69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48"/>
          <p:cNvSpPr/>
          <p:nvPr/>
        </p:nvSpPr>
        <p:spPr>
          <a:xfrm>
            <a:off x="631080" y="5609880"/>
            <a:ext cx="2843280" cy="19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60" b="0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Polish &amp; Präsentation  / Alle</a:t>
            </a:r>
            <a:endParaRPr lang="en-US" sz="10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49"/>
          <p:cNvSpPr/>
          <p:nvPr/>
        </p:nvSpPr>
        <p:spPr>
          <a:xfrm>
            <a:off x="355680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150"/>
          <p:cNvSpPr/>
          <p:nvPr/>
        </p:nvSpPr>
        <p:spPr>
          <a:xfrm>
            <a:off x="428832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1"/>
          <p:cNvSpPr/>
          <p:nvPr/>
        </p:nvSpPr>
        <p:spPr>
          <a:xfrm>
            <a:off x="501984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52"/>
          <p:cNvSpPr/>
          <p:nvPr/>
        </p:nvSpPr>
        <p:spPr>
          <a:xfrm>
            <a:off x="575136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53"/>
          <p:cNvSpPr/>
          <p:nvPr/>
        </p:nvSpPr>
        <p:spPr>
          <a:xfrm>
            <a:off x="648288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54"/>
          <p:cNvSpPr/>
          <p:nvPr/>
        </p:nvSpPr>
        <p:spPr>
          <a:xfrm>
            <a:off x="721440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55"/>
          <p:cNvSpPr/>
          <p:nvPr/>
        </p:nvSpPr>
        <p:spPr>
          <a:xfrm>
            <a:off x="794592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56"/>
          <p:cNvSpPr/>
          <p:nvPr/>
        </p:nvSpPr>
        <p:spPr>
          <a:xfrm>
            <a:off x="867744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57"/>
          <p:cNvSpPr/>
          <p:nvPr/>
        </p:nvSpPr>
        <p:spPr>
          <a:xfrm>
            <a:off x="940896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58"/>
          <p:cNvSpPr/>
          <p:nvPr/>
        </p:nvSpPr>
        <p:spPr>
          <a:xfrm>
            <a:off x="9464040" y="5591520"/>
            <a:ext cx="630720" cy="223560"/>
          </a:xfrm>
          <a:prstGeom prst="rect">
            <a:avLst/>
          </a:prstGeom>
          <a:solidFill>
            <a:srgbClr val="FFD578"/>
          </a:solidFill>
          <a:ln w="12700">
            <a:solidFill>
              <a:srgbClr val="FFD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159"/>
          <p:cNvSpPr/>
          <p:nvPr/>
        </p:nvSpPr>
        <p:spPr>
          <a:xfrm>
            <a:off x="10140480" y="5541120"/>
            <a:ext cx="360" cy="329040"/>
          </a:xfrm>
          <a:prstGeom prst="line">
            <a:avLst/>
          </a:prstGeom>
          <a:ln w="6985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160"/>
          <p:cNvSpPr/>
          <p:nvPr/>
        </p:nvSpPr>
        <p:spPr>
          <a:xfrm>
            <a:off x="10195560" y="5591520"/>
            <a:ext cx="630720" cy="223560"/>
          </a:xfrm>
          <a:prstGeom prst="rect">
            <a:avLst/>
          </a:prstGeom>
          <a:solidFill>
            <a:srgbClr val="FFD578"/>
          </a:solidFill>
          <a:ln w="12700">
            <a:solidFill>
              <a:srgbClr val="FFD57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61"/>
          <p:cNvSpPr/>
          <p:nvPr/>
        </p:nvSpPr>
        <p:spPr>
          <a:xfrm>
            <a:off x="6482880" y="2103120"/>
            <a:ext cx="360" cy="3721320"/>
          </a:xfrm>
          <a:prstGeom prst="line">
            <a:avLst/>
          </a:prstGeom>
          <a:ln w="25400">
            <a:solidFill>
              <a:srgbClr val="42E7D7"/>
            </a:solidFill>
            <a:prstDash val="dash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162"/>
          <p:cNvSpPr/>
          <p:nvPr/>
        </p:nvSpPr>
        <p:spPr>
          <a:xfrm>
            <a:off x="6163200" y="5961960"/>
            <a:ext cx="1096920" cy="301320"/>
          </a:xfrm>
          <a:prstGeom prst="roundRect">
            <a:avLst>
              <a:gd name="adj" fmla="val 36364"/>
            </a:avLst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63"/>
          <p:cNvSpPr/>
          <p:nvPr/>
        </p:nvSpPr>
        <p:spPr>
          <a:xfrm>
            <a:off x="6263640" y="5970960"/>
            <a:ext cx="89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90E1C"/>
                </a:solidFill>
                <a:effectLst/>
                <a:uFillTx/>
                <a:latin typeface="Aptos"/>
                <a:ea typeface="Aptos"/>
              </a:rPr>
              <a:t>MVP ✓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"/>
          <p:cNvSpPr/>
          <p:nvPr/>
        </p:nvSpPr>
        <p:spPr>
          <a:xfrm>
            <a:off x="502920" y="301680"/>
            <a:ext cx="169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"/>
          <p:cNvSpPr/>
          <p:nvPr/>
        </p:nvSpPr>
        <p:spPr>
          <a:xfrm>
            <a:off x="2322720" y="31104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 spc="201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PITCH IN 5 MINUTEN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"/>
          <p:cNvSpPr/>
          <p:nvPr/>
        </p:nvSpPr>
        <p:spPr>
          <a:xfrm>
            <a:off x="530280" y="877680"/>
            <a:ext cx="1088100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Unser Ablauf vor der Klasse</a:t>
            </a:r>
            <a:endParaRPr lang="en-US" sz="2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4"/>
          <p:cNvSpPr/>
          <p:nvPr/>
        </p:nvSpPr>
        <p:spPr>
          <a:xfrm>
            <a:off x="530280" y="1472040"/>
            <a:ext cx="111553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Eine Person kann anhand dieser Stichworte die komplette Idee vorstellen.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5"/>
          <p:cNvSpPr/>
          <p:nvPr/>
        </p:nvSpPr>
        <p:spPr>
          <a:xfrm>
            <a:off x="520920" y="6373080"/>
            <a:ext cx="11137680" cy="360"/>
          </a:xfrm>
          <a:prstGeom prst="line">
            <a:avLst/>
          </a:prstGeom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6"/>
          <p:cNvSpPr/>
          <p:nvPr/>
        </p:nvSpPr>
        <p:spPr>
          <a:xfrm>
            <a:off x="521280" y="6464880"/>
            <a:ext cx="685764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LP12 · Team Faruk / Kaito / Laurentiu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7"/>
          <p:cNvSpPr/>
          <p:nvPr/>
        </p:nvSpPr>
        <p:spPr>
          <a:xfrm>
            <a:off x="10698480" y="6464880"/>
            <a:ext cx="9597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10 / 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8"/>
          <p:cNvSpPr/>
          <p:nvPr/>
        </p:nvSpPr>
        <p:spPr>
          <a:xfrm>
            <a:off x="567000" y="2030040"/>
            <a:ext cx="11072880" cy="539280"/>
          </a:xfrm>
          <a:prstGeom prst="roundRect">
            <a:avLst>
              <a:gd name="adj" fmla="val 2033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9"/>
          <p:cNvSpPr/>
          <p:nvPr/>
        </p:nvSpPr>
        <p:spPr>
          <a:xfrm>
            <a:off x="768240" y="213984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00:00–00:40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0"/>
          <p:cNvSpPr/>
          <p:nvPr/>
        </p:nvSpPr>
        <p:spPr>
          <a:xfrm>
            <a:off x="2277000" y="2139840"/>
            <a:ext cx="240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Problem &amp; Idee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1"/>
          <p:cNvSpPr/>
          <p:nvPr/>
        </p:nvSpPr>
        <p:spPr>
          <a:xfrm>
            <a:off x="4827960" y="2121480"/>
            <a:ext cx="6464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Wir entwickeln ein Escape-Game direkt im Browser.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12"/>
          <p:cNvSpPr/>
          <p:nvPr/>
        </p:nvSpPr>
        <p:spPr>
          <a:xfrm>
            <a:off x="567000" y="2670120"/>
            <a:ext cx="11072880" cy="539280"/>
          </a:xfrm>
          <a:prstGeom prst="roundRect">
            <a:avLst>
              <a:gd name="adj" fmla="val 20339"/>
            </a:avLst>
          </a:prstGeom>
          <a:solidFill>
            <a:srgbClr val="111A2E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3"/>
          <p:cNvSpPr/>
          <p:nvPr/>
        </p:nvSpPr>
        <p:spPr>
          <a:xfrm>
            <a:off x="768240" y="277992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00:40–01:25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4"/>
          <p:cNvSpPr/>
          <p:nvPr/>
        </p:nvSpPr>
        <p:spPr>
          <a:xfrm>
            <a:off x="2277000" y="2779920"/>
            <a:ext cx="240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So funktioniert 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5"/>
          <p:cNvSpPr/>
          <p:nvPr/>
        </p:nvSpPr>
        <p:spPr>
          <a:xfrm>
            <a:off x="4827960" y="2761560"/>
            <a:ext cx="6464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Räume erkunden, Rätsel lösen, Glitch-Modus aktivieren.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6"/>
          <p:cNvSpPr/>
          <p:nvPr/>
        </p:nvSpPr>
        <p:spPr>
          <a:xfrm>
            <a:off x="567000" y="3310200"/>
            <a:ext cx="11072880" cy="539280"/>
          </a:xfrm>
          <a:prstGeom prst="roundRect">
            <a:avLst>
              <a:gd name="adj" fmla="val 2033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7"/>
          <p:cNvSpPr/>
          <p:nvPr/>
        </p:nvSpPr>
        <p:spPr>
          <a:xfrm>
            <a:off x="768240" y="342000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01:25–02:20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8"/>
          <p:cNvSpPr/>
          <p:nvPr/>
        </p:nvSpPr>
        <p:spPr>
          <a:xfrm>
            <a:off x="2277000" y="3420000"/>
            <a:ext cx="240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Mockups zeigen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9"/>
          <p:cNvSpPr/>
          <p:nvPr/>
        </p:nvSpPr>
        <p:spPr>
          <a:xfrm>
            <a:off x="4827960" y="3401640"/>
            <a:ext cx="6464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MVP mit einem Raum, Endprodukt mit fünf Levels.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0"/>
          <p:cNvSpPr/>
          <p:nvPr/>
        </p:nvSpPr>
        <p:spPr>
          <a:xfrm>
            <a:off x="567000" y="3950280"/>
            <a:ext cx="11072880" cy="539280"/>
          </a:xfrm>
          <a:prstGeom prst="roundRect">
            <a:avLst>
              <a:gd name="adj" fmla="val 20339"/>
            </a:avLst>
          </a:prstGeom>
          <a:solidFill>
            <a:srgbClr val="111A2E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1"/>
          <p:cNvSpPr/>
          <p:nvPr/>
        </p:nvSpPr>
        <p:spPr>
          <a:xfrm>
            <a:off x="768240" y="406008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02:20–03:15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2"/>
          <p:cNvSpPr/>
          <p:nvPr/>
        </p:nvSpPr>
        <p:spPr>
          <a:xfrm>
            <a:off x="2277000" y="4060080"/>
            <a:ext cx="240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Umsetzung &amp; Team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3"/>
          <p:cNvSpPr/>
          <p:nvPr/>
        </p:nvSpPr>
        <p:spPr>
          <a:xfrm>
            <a:off x="4827960" y="4041720"/>
            <a:ext cx="6464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Webtechnologien, GitHub, Rollen und Verantwortungen.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4"/>
          <p:cNvSpPr/>
          <p:nvPr/>
        </p:nvSpPr>
        <p:spPr>
          <a:xfrm>
            <a:off x="567000" y="4590360"/>
            <a:ext cx="11072880" cy="539280"/>
          </a:xfrm>
          <a:prstGeom prst="roundRect">
            <a:avLst>
              <a:gd name="adj" fmla="val 20339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5"/>
          <p:cNvSpPr/>
          <p:nvPr/>
        </p:nvSpPr>
        <p:spPr>
          <a:xfrm>
            <a:off x="768240" y="470016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03:15–04:20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6"/>
          <p:cNvSpPr/>
          <p:nvPr/>
        </p:nvSpPr>
        <p:spPr>
          <a:xfrm>
            <a:off x="2277000" y="4700160"/>
            <a:ext cx="240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Gantt &amp; Meilensteine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27"/>
          <p:cNvSpPr/>
          <p:nvPr/>
        </p:nvSpPr>
        <p:spPr>
          <a:xfrm>
            <a:off x="4827960" y="4681800"/>
            <a:ext cx="6464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Woche 4 spielbares MVP, Woche 10 fertiges Game.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28"/>
          <p:cNvSpPr/>
          <p:nvPr/>
        </p:nvSpPr>
        <p:spPr>
          <a:xfrm>
            <a:off x="567000" y="5230440"/>
            <a:ext cx="11072880" cy="539280"/>
          </a:xfrm>
          <a:prstGeom prst="roundRect">
            <a:avLst>
              <a:gd name="adj" fmla="val 20339"/>
            </a:avLst>
          </a:prstGeom>
          <a:solidFill>
            <a:srgbClr val="111A2E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9"/>
          <p:cNvSpPr/>
          <p:nvPr/>
        </p:nvSpPr>
        <p:spPr>
          <a:xfrm>
            <a:off x="768240" y="5340240"/>
            <a:ext cx="1325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04:20–05:00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0"/>
          <p:cNvSpPr/>
          <p:nvPr/>
        </p:nvSpPr>
        <p:spPr>
          <a:xfrm>
            <a:off x="2277000" y="5340240"/>
            <a:ext cx="24044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Abschluss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31"/>
          <p:cNvSpPr/>
          <p:nvPr/>
        </p:nvSpPr>
        <p:spPr>
          <a:xfrm>
            <a:off x="4827960" y="5321880"/>
            <a:ext cx="64645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9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Warum GLITCH unterhaltsam und realistisch ist.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0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42E7D7"/>
          </a:solidFill>
          <a:ln w="12700">
            <a:solidFill>
              <a:srgbClr val="42E7D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"/>
          <p:cNvSpPr/>
          <p:nvPr/>
        </p:nvSpPr>
        <p:spPr>
          <a:xfrm>
            <a:off x="685800" y="795600"/>
            <a:ext cx="36115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spc="300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DAS ZIEL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"/>
          <p:cNvSpPr/>
          <p:nvPr/>
        </p:nvSpPr>
        <p:spPr>
          <a:xfrm>
            <a:off x="676800" y="1444680"/>
            <a:ext cx="10926720" cy="192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VON EINER IDEE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500" b="1" u="none" strike="noStrike">
                <a:solidFill>
                  <a:srgbClr val="F4F8FF"/>
                </a:solidFill>
                <a:effectLst/>
                <a:uFillTx/>
                <a:latin typeface="Aptos"/>
                <a:ea typeface="Aptos"/>
              </a:rPr>
              <a:t>ZUM SPIELBAREN GAME.</a:t>
            </a:r>
            <a:endParaRPr lang="en-US" sz="4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3"/>
          <p:cNvSpPr/>
          <p:nvPr/>
        </p:nvSpPr>
        <p:spPr>
          <a:xfrm>
            <a:off x="685800" y="3867840"/>
            <a:ext cx="10789560" cy="1243080"/>
          </a:xfrm>
          <a:prstGeom prst="roundRect">
            <a:avLst>
              <a:gd name="adj" fmla="val 8824"/>
            </a:avLst>
          </a:prstGeom>
          <a:solidFill>
            <a:srgbClr val="151E33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4"/>
          <p:cNvSpPr/>
          <p:nvPr/>
        </p:nvSpPr>
        <p:spPr>
          <a:xfrm>
            <a:off x="932760" y="4087440"/>
            <a:ext cx="2898360" cy="776880"/>
          </a:xfrm>
          <a:prstGeom prst="roundRect">
            <a:avLst>
              <a:gd name="adj" fmla="val 14118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5"/>
          <p:cNvSpPr/>
          <p:nvPr/>
        </p:nvSpPr>
        <p:spPr>
          <a:xfrm>
            <a:off x="1088280" y="4187880"/>
            <a:ext cx="2605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W4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6"/>
          <p:cNvSpPr/>
          <p:nvPr/>
        </p:nvSpPr>
        <p:spPr>
          <a:xfrm>
            <a:off x="1088280" y="4572000"/>
            <a:ext cx="2605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SPIELBARES MVP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7"/>
          <p:cNvSpPr/>
          <p:nvPr/>
        </p:nvSpPr>
        <p:spPr>
          <a:xfrm>
            <a:off x="4645080" y="4087440"/>
            <a:ext cx="2907360" cy="776880"/>
          </a:xfrm>
          <a:prstGeom prst="roundRect">
            <a:avLst>
              <a:gd name="adj" fmla="val 14118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8"/>
          <p:cNvSpPr/>
          <p:nvPr/>
        </p:nvSpPr>
        <p:spPr>
          <a:xfrm>
            <a:off x="4800600" y="4187880"/>
            <a:ext cx="2614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9B83FF"/>
                </a:solidFill>
                <a:effectLst/>
                <a:uFillTx/>
                <a:latin typeface="Aptos"/>
                <a:ea typeface="Aptos"/>
              </a:rPr>
              <a:t>W10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9"/>
          <p:cNvSpPr/>
          <p:nvPr/>
        </p:nvSpPr>
        <p:spPr>
          <a:xfrm>
            <a:off x="4800600" y="4572000"/>
            <a:ext cx="2614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FERTIGES PRODUKT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10"/>
          <p:cNvSpPr/>
          <p:nvPr/>
        </p:nvSpPr>
        <p:spPr>
          <a:xfrm>
            <a:off x="8339400" y="4087440"/>
            <a:ext cx="2880000" cy="776880"/>
          </a:xfrm>
          <a:prstGeom prst="roundRect">
            <a:avLst>
              <a:gd name="adj" fmla="val 14118"/>
            </a:avLst>
          </a:prstGeom>
          <a:solidFill>
            <a:srgbClr val="1B2742"/>
          </a:solidFill>
          <a:ln w="12700">
            <a:solidFill>
              <a:srgbClr val="31405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1"/>
          <p:cNvSpPr/>
          <p:nvPr/>
        </p:nvSpPr>
        <p:spPr>
          <a:xfrm>
            <a:off x="8494920" y="4187880"/>
            <a:ext cx="258732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FF699A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2"/>
          <p:cNvSpPr/>
          <p:nvPr/>
        </p:nvSpPr>
        <p:spPr>
          <a:xfrm>
            <a:off x="8494920" y="4572000"/>
            <a:ext cx="2587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A8B6CF"/>
                </a:solidFill>
                <a:effectLst/>
                <a:uFillTx/>
                <a:latin typeface="Aptos"/>
                <a:ea typeface="Aptos"/>
              </a:rPr>
              <a:t>ENTWICKLER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3"/>
          <p:cNvSpPr/>
          <p:nvPr/>
        </p:nvSpPr>
        <p:spPr>
          <a:xfrm>
            <a:off x="694800" y="6007680"/>
            <a:ext cx="10012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spc="201">
                <a:solidFill>
                  <a:srgbClr val="42E7D7"/>
                </a:solidFill>
                <a:effectLst/>
                <a:uFillTx/>
                <a:latin typeface="Aptos"/>
                <a:ea typeface="Aptos"/>
              </a:rPr>
              <a:t>GLITCH · ESCAPE THE SIMULATION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1395</Words>
  <Application>Microsoft Office PowerPoint</Application>
  <PresentationFormat>Breitbild</PresentationFormat>
  <Paragraphs>283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8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BBB Baden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Faruk Hodzic</cp:lastModifiedBy>
  <cp:revision>1</cp:revision>
  <dcterms:modified xsi:type="dcterms:W3CDTF">2026-10-16T08:45:42Z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2026-10-16T07:42:54Z</dcterms:created>
  <dc:creator>Team GLITCH - Lernperiode 12</dc:creator>
  <dc:description/>
  <dc:language>en-US</dc:language>
  <cp:lastModifiedBy>Team GLITCH - Lernperiode 12</cp:lastModifiedBy>
  <dcterms:modified xsi:type="dcterms:W3CDTF">2026-10-16T07:42:54Z</dcterms:modified>
  <cp:revision>1</cp:revision>
  <dc:subject>GLITCH - Escape the Simulation | Pitch LP12</dc:subject>
  <dc:title>GLITCH - Escape the Simulation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11</vt:r8>
  </property>
  <property fmtid="{D5CDD505-2E9C-101B-9397-08002B2CF9AE}" pid="3" name="PresentationFormat">
    <vt:lpwstr>On-screen Show (16:9)</vt:lpwstr>
  </property>
  <property fmtid="{D5CDD505-2E9C-101B-9397-08002B2CF9AE}" pid="4" name="Slides">
    <vt:r8>11</vt:r8>
  </property>
</Properties>
</file>